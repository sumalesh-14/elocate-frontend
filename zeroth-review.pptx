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0"/>
  </p:notesMasterIdLst>
  <p:sldIdLst>
    <p:sldId id="256" r:id="rId2"/>
    <p:sldId id="276" r:id="rId3"/>
    <p:sldId id="277" r:id="rId4"/>
    <p:sldId id="257" r:id="rId5"/>
    <p:sldId id="260" r:id="rId6"/>
    <p:sldId id="258" r:id="rId7"/>
    <p:sldId id="259" r:id="rId8"/>
    <p:sldId id="275" r:id="rId9"/>
    <p:sldId id="261" r:id="rId10"/>
    <p:sldId id="263" r:id="rId11"/>
    <p:sldId id="264" r:id="rId12"/>
    <p:sldId id="265" r:id="rId13"/>
    <p:sldId id="266" r:id="rId14"/>
    <p:sldId id="271" r:id="rId15"/>
    <p:sldId id="270" r:id="rId16"/>
    <p:sldId id="269" r:id="rId17"/>
    <p:sldId id="273" r:id="rId18"/>
    <p:sldId id="274"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g0kTNDwJ6dBoRWzcShxu/avlgf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3B643C5-FE54-463B-9127-A691888CBA63}">
  <a:tblStyle styleId="{53B643C5-FE54-463B-9127-A691888CBA6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70186280-7A27-6355-A122-6A781B35815E}"/>
            </a:ext>
          </a:extLst>
        </p:cNvPr>
        <p:cNvGrpSpPr/>
        <p:nvPr/>
      </p:nvGrpSpPr>
      <p:grpSpPr>
        <a:xfrm>
          <a:off x="0" y="0"/>
          <a:ext cx="0" cy="0"/>
          <a:chOff x="0" y="0"/>
          <a:chExt cx="0" cy="0"/>
        </a:xfrm>
      </p:grpSpPr>
      <p:sp>
        <p:nvSpPr>
          <p:cNvPr id="96" name="Google Shape;96;p2:notes">
            <a:extLst>
              <a:ext uri="{FF2B5EF4-FFF2-40B4-BE49-F238E27FC236}">
                <a16:creationId xmlns:a16="http://schemas.microsoft.com/office/drawing/2014/main" id="{D9991022-67D4-86A0-3CDF-7DDC99F5200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a:extLst>
              <a:ext uri="{FF2B5EF4-FFF2-40B4-BE49-F238E27FC236}">
                <a16:creationId xmlns:a16="http://schemas.microsoft.com/office/drawing/2014/main" id="{A6167047-33AF-55B7-1494-04F3F9CDC1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55551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D61E2624-3121-E4CD-87AA-AF6C49E7027E}"/>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1DBB6BF9-C3F2-93EE-0B37-8A47737CE9B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5:notes">
            <a:extLst>
              <a:ext uri="{FF2B5EF4-FFF2-40B4-BE49-F238E27FC236}">
                <a16:creationId xmlns:a16="http://schemas.microsoft.com/office/drawing/2014/main" id="{ACCDA1CF-6923-F220-9548-AC1EFD1EFC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5936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5"/>
          <p:cNvSpPr>
            <a:spLocks noGrp="1"/>
          </p:cNvSpPr>
          <p:nvPr>
            <p:ph type="pic" idx="2"/>
          </p:nvPr>
        </p:nvSpPr>
        <p:spPr>
          <a:xfrm>
            <a:off x="5183188" y="987425"/>
            <a:ext cx="6172200" cy="4873625"/>
          </a:xfrm>
          <a:prstGeom prst="rect">
            <a:avLst/>
          </a:prstGeom>
          <a:noFill/>
          <a:ln>
            <a:noFill/>
          </a:ln>
        </p:spPr>
      </p:sp>
      <p:sp>
        <p:nvSpPr>
          <p:cNvPr id="68" name="Google Shape;68;p3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Documents/elocate-s8/tech_stack_diagram.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unep.org/explore-topics/resource-efficiency/what-we-do/cities/waste-management"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261250"/>
            <a:ext cx="9144000" cy="1007377"/>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1800"/>
              <a:buFont typeface="Cambria"/>
              <a:buNone/>
            </a:pPr>
            <a:r>
              <a:rPr lang="en-US" sz="1800" b="1" dirty="0">
                <a:latin typeface="Cambria"/>
                <a:ea typeface="Cambria"/>
                <a:cs typeface="Cambria"/>
                <a:sym typeface="Cambria"/>
              </a:rPr>
              <a:t>Academic Year 2025 - 26 </a:t>
            </a:r>
            <a:br>
              <a:rPr lang="en-US" sz="1800" b="1" dirty="0">
                <a:latin typeface="Cambria"/>
                <a:ea typeface="Cambria"/>
                <a:cs typeface="Cambria"/>
                <a:sym typeface="Cambria"/>
              </a:rPr>
            </a:br>
            <a:r>
              <a:rPr lang="en-US" sz="1800" b="1" dirty="0">
                <a:solidFill>
                  <a:srgbClr val="C00000"/>
                </a:solidFill>
                <a:latin typeface="Cambria"/>
                <a:ea typeface="Cambria"/>
                <a:cs typeface="Cambria"/>
                <a:sym typeface="Cambria"/>
              </a:rPr>
              <a:t>S8 MINI PROJECT IV</a:t>
            </a:r>
            <a:br>
              <a:rPr lang="en-US" sz="1800" b="1" dirty="0">
                <a:solidFill>
                  <a:srgbClr val="C00000"/>
                </a:solidFill>
                <a:latin typeface="Cambria"/>
                <a:ea typeface="Cambria"/>
                <a:cs typeface="Cambria"/>
                <a:sym typeface="Cambria"/>
              </a:rPr>
            </a:br>
            <a:r>
              <a:rPr lang="en-US" sz="1800" b="1" dirty="0">
                <a:solidFill>
                  <a:srgbClr val="C00000"/>
                </a:solidFill>
                <a:latin typeface="Cambria"/>
                <a:ea typeface="Cambria"/>
                <a:cs typeface="Cambria"/>
                <a:sym typeface="Cambria"/>
              </a:rPr>
              <a:t>Final Review</a:t>
            </a:r>
            <a:endParaRPr sz="1800" b="1" dirty="0">
              <a:solidFill>
                <a:schemeClr val="tx1"/>
              </a:solidFill>
              <a:latin typeface="Cambria"/>
              <a:ea typeface="Cambria"/>
              <a:cs typeface="Cambria"/>
              <a:sym typeface="Cambria"/>
            </a:endParaRPr>
          </a:p>
        </p:txBody>
      </p:sp>
      <p:sp>
        <p:nvSpPr>
          <p:cNvPr id="89" name="Google Shape;89;p1"/>
          <p:cNvSpPr txBox="1">
            <a:spLocks noGrp="1"/>
          </p:cNvSpPr>
          <p:nvPr>
            <p:ph type="subTitle" idx="1"/>
          </p:nvPr>
        </p:nvSpPr>
        <p:spPr>
          <a:xfrm>
            <a:off x="1524000" y="2357256"/>
            <a:ext cx="9144000" cy="100737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385623"/>
              </a:buClr>
              <a:buSzPct val="100000"/>
              <a:buNone/>
            </a:pPr>
            <a:r>
              <a:rPr lang="en-US" b="1" dirty="0">
                <a:solidFill>
                  <a:srgbClr val="385623"/>
                </a:solidFill>
                <a:latin typeface="Cambria"/>
                <a:ea typeface="Cambria"/>
                <a:cs typeface="Cambria"/>
                <a:sym typeface="Cambria"/>
              </a:rPr>
              <a:t>PROJECT TITLE</a:t>
            </a:r>
            <a:endParaRPr dirty="0"/>
          </a:p>
          <a:p>
            <a:pPr marL="0" lvl="0" indent="0" algn="ctr" rtl="0">
              <a:lnSpc>
                <a:spcPct val="90000"/>
              </a:lnSpc>
              <a:spcBef>
                <a:spcPts val="1000"/>
              </a:spcBef>
              <a:spcAft>
                <a:spcPts val="0"/>
              </a:spcAft>
              <a:buClr>
                <a:srgbClr val="002060"/>
              </a:buClr>
              <a:buSzPct val="100000"/>
              <a:buNone/>
            </a:pPr>
            <a:r>
              <a:rPr lang="en-US" sz="2800" b="1" dirty="0">
                <a:solidFill>
                  <a:srgbClr val="002060"/>
                </a:solidFill>
                <a:latin typeface="Cambria"/>
                <a:ea typeface="Cambria"/>
                <a:cs typeface="Cambria"/>
                <a:sym typeface="Cambria"/>
              </a:rPr>
              <a:t>E-CYCLE CONNECT</a:t>
            </a:r>
            <a:endParaRPr sz="2800" dirty="0"/>
          </a:p>
          <a:p>
            <a:pPr marL="0" lvl="0" indent="0" algn="ctr" rtl="0">
              <a:lnSpc>
                <a:spcPct val="90000"/>
              </a:lnSpc>
              <a:spcBef>
                <a:spcPts val="1000"/>
              </a:spcBef>
              <a:spcAft>
                <a:spcPts val="0"/>
              </a:spcAft>
              <a:buClr>
                <a:schemeClr val="dk1"/>
              </a:buClr>
              <a:buSzPct val="100000"/>
              <a:buNone/>
            </a:pPr>
            <a:endParaRPr b="1" dirty="0">
              <a:solidFill>
                <a:srgbClr val="7030A0"/>
              </a:solidFill>
              <a:latin typeface="Cambria"/>
              <a:ea typeface="Cambria"/>
              <a:cs typeface="Cambria"/>
              <a:sym typeface="Cambria"/>
            </a:endParaRPr>
          </a:p>
          <a:p>
            <a:pPr marL="0" lvl="0" indent="0" algn="ctr" rtl="0">
              <a:lnSpc>
                <a:spcPct val="90000"/>
              </a:lnSpc>
              <a:spcBef>
                <a:spcPts val="1000"/>
              </a:spcBef>
              <a:spcAft>
                <a:spcPts val="0"/>
              </a:spcAft>
              <a:buClr>
                <a:schemeClr val="dk1"/>
              </a:buClr>
              <a:buSzPct val="100000"/>
              <a:buNone/>
            </a:pPr>
            <a:endParaRPr b="1" dirty="0">
              <a:latin typeface="Cambria"/>
              <a:ea typeface="Cambria"/>
              <a:cs typeface="Cambria"/>
              <a:sym typeface="Cambria"/>
            </a:endParaRPr>
          </a:p>
        </p:txBody>
      </p:sp>
      <p:pic>
        <p:nvPicPr>
          <p:cNvPr id="90" name="Google Shape;90;p1"/>
          <p:cNvPicPr preferRelativeResize="0"/>
          <p:nvPr/>
        </p:nvPicPr>
        <p:blipFill rotWithShape="1">
          <a:blip r:embed="rId3">
            <a:alphaModFix/>
          </a:blip>
          <a:srcRect/>
          <a:stretch/>
        </p:blipFill>
        <p:spPr>
          <a:xfrm>
            <a:off x="2258290" y="0"/>
            <a:ext cx="7675419" cy="1308626"/>
          </a:xfrm>
          <a:prstGeom prst="rect">
            <a:avLst/>
          </a:prstGeom>
          <a:noFill/>
          <a:ln>
            <a:noFill/>
          </a:ln>
        </p:spPr>
      </p:pic>
      <p:sp>
        <p:nvSpPr>
          <p:cNvPr id="91" name="Google Shape;91;p1"/>
          <p:cNvSpPr txBox="1"/>
          <p:nvPr/>
        </p:nvSpPr>
        <p:spPr>
          <a:xfrm>
            <a:off x="387790" y="5001226"/>
            <a:ext cx="5226781" cy="1440874"/>
          </a:xfrm>
          <a:prstGeom prst="rect">
            <a:avLst/>
          </a:prstGeom>
          <a:noFill/>
          <a:ln>
            <a:noFill/>
          </a:ln>
        </p:spPr>
        <p:txBody>
          <a:bodyPr spcFirstLastPara="1" wrap="square" lIns="91425" tIns="45700" rIns="91425" bIns="45700" anchor="t" anchorCtr="0">
            <a:noAutofit/>
          </a:bodyPr>
          <a:lstStyle/>
          <a:p>
            <a:pPr lvl="0" algn="ctr">
              <a:lnSpc>
                <a:spcPct val="90000"/>
              </a:lnSpc>
              <a:buClr>
                <a:srgbClr val="385623"/>
              </a:buClr>
              <a:buSzPct val="100000"/>
            </a:pPr>
            <a:r>
              <a:rPr lang="en-US" sz="1600" b="1" dirty="0">
                <a:solidFill>
                  <a:srgbClr val="385623"/>
                </a:solidFill>
                <a:latin typeface="Cambria" panose="02040503050406030204"/>
                <a:ea typeface="Cambria" panose="02040503050406030204"/>
                <a:cs typeface="Cambria" panose="02040503050406030204"/>
                <a:sym typeface="Cambria" panose="02040503050406030204"/>
              </a:rPr>
              <a:t>BATCH MEMBERS</a:t>
            </a:r>
            <a:endParaRPr lang="en-US" sz="1100" dirty="0"/>
          </a:p>
          <a:p>
            <a:pPr lvl="0" algn="ctr">
              <a:lnSpc>
                <a:spcPct val="90000"/>
              </a:lnSpc>
              <a:spcBef>
                <a:spcPts val="1000"/>
              </a:spcBef>
              <a:buClr>
                <a:srgbClr val="7030A0"/>
              </a:buClr>
              <a:buSzPct val="100000"/>
            </a:pPr>
            <a:r>
              <a:rPr lang="en-US" b="1" dirty="0">
                <a:solidFill>
                  <a:srgbClr val="7030A0"/>
                </a:solidFill>
                <a:latin typeface="Cambria" panose="02040503050406030204"/>
                <a:ea typeface="Cambria" panose="02040503050406030204"/>
                <a:cs typeface="Cambria" panose="02040503050406030204"/>
                <a:sym typeface="Cambria" panose="02040503050406030204"/>
              </a:rPr>
              <a:t>SUMALESH K A (7376222IT266)</a:t>
            </a:r>
            <a:endParaRPr lang="en-US" sz="1100" dirty="0"/>
          </a:p>
          <a:p>
            <a:pPr lvl="0" algn="ctr">
              <a:lnSpc>
                <a:spcPct val="90000"/>
              </a:lnSpc>
              <a:spcBef>
                <a:spcPts val="1000"/>
              </a:spcBef>
              <a:buClr>
                <a:srgbClr val="7030A0"/>
              </a:buClr>
              <a:buSzPct val="100000"/>
            </a:pPr>
            <a:r>
              <a:rPr lang="en-US" b="1" dirty="0">
                <a:solidFill>
                  <a:srgbClr val="7030A0"/>
                </a:solidFill>
                <a:latin typeface="Cambria" panose="02040503050406030204"/>
                <a:ea typeface="Cambria" panose="02040503050406030204"/>
                <a:cs typeface="Cambria" panose="02040503050406030204"/>
                <a:sym typeface="Cambria" panose="02040503050406030204"/>
              </a:rPr>
              <a:t>MADHUMETHA M (7376222IT187)</a:t>
            </a:r>
            <a:endParaRPr lang="en-US" sz="1100" dirty="0"/>
          </a:p>
          <a:p>
            <a:pPr lvl="0" algn="ctr">
              <a:lnSpc>
                <a:spcPct val="90000"/>
              </a:lnSpc>
              <a:spcBef>
                <a:spcPts val="1000"/>
              </a:spcBef>
              <a:buClr>
                <a:srgbClr val="7030A0"/>
              </a:buClr>
              <a:buSzPct val="100000"/>
            </a:pPr>
            <a:r>
              <a:rPr lang="en-US" b="1" dirty="0">
                <a:solidFill>
                  <a:srgbClr val="7030A0"/>
                </a:solidFill>
                <a:latin typeface="Cambria" panose="02040503050406030204"/>
                <a:ea typeface="Cambria" panose="02040503050406030204"/>
                <a:cs typeface="Cambria" panose="02040503050406030204"/>
                <a:sym typeface="Cambria" panose="02040503050406030204"/>
              </a:rPr>
              <a:t>RAGUL V R (7376221CS274)</a:t>
            </a:r>
            <a:endParaRPr lang="en-US" sz="1800" b="1" dirty="0">
              <a:solidFill>
                <a:srgbClr val="7030A0"/>
              </a:solidFill>
              <a:latin typeface="Cambria" panose="02040503050406030204"/>
              <a:ea typeface="Cambria" panose="02040503050406030204"/>
              <a:cs typeface="Cambria" panose="02040503050406030204"/>
              <a:sym typeface="Cambria" panose="02040503050406030204"/>
            </a:endParaRPr>
          </a:p>
          <a:p>
            <a:pPr lvl="0" algn="ctr">
              <a:lnSpc>
                <a:spcPct val="90000"/>
              </a:lnSpc>
              <a:spcBef>
                <a:spcPts val="1000"/>
              </a:spcBef>
              <a:buClr>
                <a:schemeClr val="dk1"/>
              </a:buClr>
              <a:buSzPct val="100000"/>
            </a:pPr>
            <a:endParaRPr lang="en-US" sz="1800" b="1" dirty="0">
              <a:solidFill>
                <a:schemeClr val="dk1"/>
              </a:solidFill>
              <a:latin typeface="Cambria" panose="02040503050406030204"/>
              <a:ea typeface="Cambria" panose="02040503050406030204"/>
              <a:cs typeface="Cambria" panose="02040503050406030204"/>
              <a:sym typeface="Cambria" panose="02040503050406030204"/>
            </a:endParaRPr>
          </a:p>
        </p:txBody>
      </p:sp>
      <p:sp>
        <p:nvSpPr>
          <p:cNvPr id="92" name="Google Shape;92;p1"/>
          <p:cNvSpPr txBox="1"/>
          <p:nvPr/>
        </p:nvSpPr>
        <p:spPr>
          <a:xfrm>
            <a:off x="6771392" y="4928389"/>
            <a:ext cx="5032817" cy="1440874"/>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385623"/>
              </a:buClr>
              <a:buSzPct val="100000"/>
              <a:buFont typeface="Arial"/>
              <a:buNone/>
            </a:pPr>
            <a:r>
              <a:rPr lang="en-US" sz="2000" b="1" i="0" u="none" strike="noStrike" cap="none" dirty="0">
                <a:solidFill>
                  <a:srgbClr val="385623"/>
                </a:solidFill>
                <a:latin typeface="Cambria"/>
                <a:ea typeface="Cambria"/>
                <a:cs typeface="Cambria"/>
                <a:sym typeface="Cambria"/>
              </a:rPr>
              <a:t>GUIDE </a:t>
            </a:r>
            <a:endParaRPr sz="1400" b="0" i="0" u="none" strike="noStrike" cap="none" dirty="0">
              <a:solidFill>
                <a:srgbClr val="000000"/>
              </a:solidFill>
              <a:latin typeface="Arial"/>
              <a:ea typeface="Arial"/>
              <a:cs typeface="Arial"/>
              <a:sym typeface="Arial"/>
            </a:endParaRPr>
          </a:p>
          <a:p>
            <a:pPr lvl="0" algn="ctr">
              <a:spcBef>
                <a:spcPts val="600"/>
              </a:spcBef>
              <a:buClr>
                <a:srgbClr val="7030A0"/>
              </a:buClr>
              <a:buSzPct val="100000"/>
            </a:pPr>
            <a:r>
              <a:rPr lang="en-US" sz="1800" b="1" dirty="0">
                <a:solidFill>
                  <a:srgbClr val="7030A0"/>
                </a:solidFill>
                <a:latin typeface="Cambria"/>
                <a:ea typeface="Cambria"/>
                <a:cs typeface="Cambria"/>
                <a:sym typeface="Cambria"/>
              </a:rPr>
              <a:t>Dr. RAJESH KANNA P -</a:t>
            </a:r>
            <a:r>
              <a:rPr lang="en-IN" dirty="0"/>
              <a:t> </a:t>
            </a:r>
            <a:r>
              <a:rPr lang="en-IN" sz="1800" b="1" dirty="0">
                <a:solidFill>
                  <a:srgbClr val="7030A0"/>
                </a:solidFill>
                <a:latin typeface="Times New Roman" panose="02020603050405020304" pitchFamily="18" charset="0"/>
                <a:cs typeface="Times New Roman" panose="02020603050405020304" pitchFamily="18" charset="0"/>
              </a:rPr>
              <a:t>CS10820</a:t>
            </a:r>
            <a:endParaRPr lang="en-US" sz="1800" b="1" dirty="0">
              <a:solidFill>
                <a:srgbClr val="7030A0"/>
              </a:solidFill>
              <a:latin typeface="Times New Roman" panose="02020603050405020304" pitchFamily="18" charset="0"/>
              <a:ea typeface="Cambria"/>
              <a:cs typeface="Times New Roman" panose="02020603050405020304" pitchFamily="18" charset="0"/>
              <a:sym typeface="Cambria"/>
            </a:endParaRPr>
          </a:p>
          <a:p>
            <a:pPr lvl="0" algn="ctr">
              <a:spcBef>
                <a:spcPts val="600"/>
              </a:spcBef>
              <a:buClr>
                <a:srgbClr val="7030A0"/>
              </a:buClr>
              <a:buSzPct val="100000"/>
            </a:pPr>
            <a:r>
              <a:rPr lang="en-US" sz="1800" b="1" dirty="0">
                <a:solidFill>
                  <a:srgbClr val="7030A0"/>
                </a:solidFill>
                <a:latin typeface="Cambria"/>
                <a:ea typeface="Cambria"/>
                <a:cs typeface="Cambria"/>
                <a:sym typeface="Cambria"/>
              </a:rPr>
              <a:t>Assistant </a:t>
            </a:r>
            <a:r>
              <a:rPr lang="en-US" sz="1800" b="1" i="0" u="none" strike="noStrike" cap="none" dirty="0">
                <a:solidFill>
                  <a:srgbClr val="7030A0"/>
                </a:solidFill>
                <a:latin typeface="Cambria"/>
                <a:ea typeface="Cambria"/>
                <a:cs typeface="Cambria"/>
                <a:sym typeface="Cambria"/>
              </a:rPr>
              <a:t>Professor</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7030A0"/>
              </a:buClr>
              <a:buSzPct val="100000"/>
              <a:buFont typeface="Arial"/>
              <a:buNone/>
            </a:pPr>
            <a:r>
              <a:rPr lang="en-US" sz="1800" b="1" i="0" u="none" strike="noStrike" cap="none" dirty="0">
                <a:solidFill>
                  <a:srgbClr val="7030A0"/>
                </a:solidFill>
                <a:latin typeface="Cambria"/>
                <a:ea typeface="Cambria"/>
                <a:cs typeface="Cambria"/>
                <a:sym typeface="Cambria"/>
              </a:rPr>
              <a:t>Department of CSE</a:t>
            </a:r>
            <a:endParaRPr lang="en-US" sz="1400" b="0" i="0" u="none" strike="noStrike" cap="none" dirty="0">
              <a:solidFill>
                <a:srgbClr val="000000"/>
              </a:solidFill>
              <a:latin typeface="Arial"/>
              <a:ea typeface="Arial"/>
              <a:cs typeface="Arial"/>
              <a:sym typeface="Arial"/>
            </a:endParaRPr>
          </a:p>
          <a:p>
            <a:pPr marL="0" marR="0" lvl="0" indent="0" algn="ctr" rtl="0">
              <a:lnSpc>
                <a:spcPct val="90000"/>
              </a:lnSpc>
              <a:spcBef>
                <a:spcPts val="1000"/>
              </a:spcBef>
              <a:spcAft>
                <a:spcPts val="0"/>
              </a:spcAft>
              <a:buClr>
                <a:schemeClr val="dk1"/>
              </a:buClr>
              <a:buSzPct val="100000"/>
              <a:buFont typeface="Arial"/>
              <a:buNone/>
            </a:pPr>
            <a:endParaRPr sz="2400" b="1" i="0" u="none" strike="noStrike" cap="none" dirty="0">
              <a:solidFill>
                <a:schemeClr val="dk1"/>
              </a:solidFill>
              <a:latin typeface="Cambria"/>
              <a:ea typeface="Cambria"/>
              <a:cs typeface="Cambria"/>
              <a:sym typeface="Cambria"/>
            </a:endParaRPr>
          </a:p>
        </p:txBody>
      </p:sp>
      <p:sp>
        <p:nvSpPr>
          <p:cNvPr id="93" name="Google Shape;93;p1"/>
          <p:cNvSpPr txBox="1"/>
          <p:nvPr/>
        </p:nvSpPr>
        <p:spPr>
          <a:xfrm>
            <a:off x="1446298" y="3994171"/>
            <a:ext cx="2937300" cy="6155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2F5496"/>
                </a:solidFill>
                <a:latin typeface="Cambria"/>
                <a:ea typeface="Cambria"/>
                <a:cs typeface="Cambria"/>
                <a:sym typeface="Cambria"/>
              </a:rPr>
              <a:t>BIP PROJECT ID</a:t>
            </a:r>
            <a:endParaRPr sz="1400" b="0" i="0" u="none" strike="noStrike" cap="none" dirty="0">
              <a:solidFill>
                <a:srgbClr val="000000"/>
              </a:solidFill>
              <a:latin typeface="Arial"/>
              <a:ea typeface="Arial"/>
              <a:cs typeface="Arial"/>
              <a:sym typeface="Arial"/>
            </a:endParaRPr>
          </a:p>
          <a:p>
            <a:pPr lvl="0" algn="ctr">
              <a:buSzPts val="1800"/>
            </a:pPr>
            <a:r>
              <a:rPr lang="en-IN" sz="1600" b="1" dirty="0">
                <a:solidFill>
                  <a:srgbClr val="C00000"/>
                </a:solidFill>
                <a:latin typeface="Times New Roman" panose="02020603050405020304" pitchFamily="18" charset="0"/>
                <a:cs typeface="Times New Roman" panose="02020603050405020304" pitchFamily="18" charset="0"/>
              </a:rPr>
              <a:t>2026EX146</a:t>
            </a:r>
            <a:endParaRPr sz="2000" b="1" i="0" u="none" strike="noStrike" cap="none" dirty="0">
              <a:solidFill>
                <a:srgbClr val="C00000"/>
              </a:solidFill>
              <a:latin typeface="Times New Roman" panose="02020603050405020304" pitchFamily="18" charset="0"/>
              <a:ea typeface="Cambria"/>
              <a:cs typeface="Times New Roman" panose="02020603050405020304" pitchFamily="18" charset="0"/>
              <a:sym typeface="Cambria"/>
            </a:endParaRPr>
          </a:p>
        </p:txBody>
      </p:sp>
      <p:sp>
        <p:nvSpPr>
          <p:cNvPr id="94" name="Google Shape;94;p1"/>
          <p:cNvSpPr txBox="1"/>
          <p:nvPr/>
        </p:nvSpPr>
        <p:spPr>
          <a:xfrm>
            <a:off x="6218951" y="3995695"/>
            <a:ext cx="61377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2F5496"/>
                </a:solidFill>
                <a:latin typeface="Cambria"/>
                <a:ea typeface="Cambria"/>
                <a:cs typeface="Cambria"/>
                <a:sym typeface="Cambria"/>
              </a:rPr>
              <a:t>CATERGORY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C00000"/>
                </a:solidFill>
                <a:latin typeface="Cambria"/>
                <a:ea typeface="Cambria"/>
                <a:cs typeface="Cambria"/>
                <a:sym typeface="Cambria"/>
              </a:rPr>
              <a:t>EXTERNAL </a:t>
            </a:r>
            <a:endParaRPr sz="1800" b="1" i="0" u="none" strike="noStrike" cap="none" dirty="0">
              <a:solidFill>
                <a:schemeClr val="dk1"/>
              </a:solidFill>
              <a:latin typeface="Cambria"/>
              <a:ea typeface="Cambria"/>
              <a:cs typeface="Cambria"/>
              <a:sym typeface="Cambria"/>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body" idx="1"/>
          </p:nvPr>
        </p:nvSpPr>
        <p:spPr>
          <a:xfrm>
            <a:off x="838200" y="928099"/>
            <a:ext cx="10515600" cy="5271543"/>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fontScale="85000" lnSpcReduction="20000"/>
          </a:bodyPr>
          <a:lstStyle/>
          <a:p>
            <a:pPr marL="0" lvl="0" indent="0" algn="just">
              <a:lnSpc>
                <a:spcPct val="115000"/>
              </a:lnSpc>
              <a:spcBef>
                <a:spcPts val="0"/>
              </a:spcBef>
              <a:buSzPct val="45833"/>
              <a:buNone/>
            </a:pPr>
            <a:r>
              <a:rPr lang="en-US" sz="2400" dirty="0">
                <a:solidFill>
                  <a:srgbClr val="C00052"/>
                </a:solidFill>
                <a:latin typeface="Cambria"/>
                <a:ea typeface="Cambria"/>
                <a:cs typeface="Times New Roman" panose="02020603050405020304" pitchFamily="18" charset="0"/>
                <a:sym typeface="Cambria"/>
              </a:rPr>
              <a:t>	</a:t>
            </a:r>
            <a:r>
              <a:rPr lang="en-US" sz="1900" dirty="0" err="1">
                <a:latin typeface="Times New Roman" panose="02020603050405020304" pitchFamily="18" charset="0"/>
                <a:ea typeface="Cambria"/>
                <a:cs typeface="Times New Roman" panose="02020603050405020304" pitchFamily="18" charset="0"/>
                <a:sym typeface="Cambria"/>
              </a:rPr>
              <a:t>ELocate</a:t>
            </a:r>
            <a:r>
              <a:rPr lang="en-US" sz="1900" dirty="0">
                <a:latin typeface="Times New Roman" panose="02020603050405020304" pitchFamily="18" charset="0"/>
                <a:ea typeface="Cambria"/>
                <a:cs typeface="Times New Roman" panose="02020603050405020304" pitchFamily="18" charset="0"/>
                <a:sym typeface="Cambria"/>
              </a:rPr>
              <a:t> is an AI-powered e-waste management platform connecting citizens with certified recycling facilities across India. Using Faster R-CNN for device recognition, Next.js/Spring Boot architecture, and </a:t>
            </a:r>
            <a:r>
              <a:rPr lang="en-US" sz="1900" dirty="0" err="1">
                <a:latin typeface="Times New Roman" panose="02020603050405020304" pitchFamily="18" charset="0"/>
                <a:ea typeface="Cambria"/>
                <a:cs typeface="Times New Roman" panose="02020603050405020304" pitchFamily="18" charset="0"/>
                <a:sym typeface="Cambria"/>
              </a:rPr>
              <a:t>MapBox</a:t>
            </a:r>
            <a:r>
              <a:rPr lang="en-US" sz="1900" dirty="0">
                <a:latin typeface="Times New Roman" panose="02020603050405020304" pitchFamily="18" charset="0"/>
                <a:ea typeface="Cambria"/>
                <a:cs typeface="Times New Roman" panose="02020603050405020304" pitchFamily="18" charset="0"/>
                <a:sym typeface="Cambria"/>
              </a:rPr>
              <a:t> integration, it addresses India's 3.2M </a:t>
            </a:r>
            <a:r>
              <a:rPr lang="en-US" sz="1900" dirty="0" err="1">
                <a:latin typeface="Times New Roman" panose="02020603050405020304" pitchFamily="18" charset="0"/>
                <a:ea typeface="Cambria"/>
                <a:cs typeface="Times New Roman" panose="02020603050405020304" pitchFamily="18" charset="0"/>
                <a:sym typeface="Cambria"/>
              </a:rPr>
              <a:t>tonnes</a:t>
            </a:r>
            <a:r>
              <a:rPr lang="en-US" sz="1900" dirty="0">
                <a:latin typeface="Times New Roman" panose="02020603050405020304" pitchFamily="18" charset="0"/>
                <a:ea typeface="Cambria"/>
                <a:cs typeface="Times New Roman" panose="02020603050405020304" pitchFamily="18" charset="0"/>
                <a:sym typeface="Cambria"/>
              </a:rPr>
              <a:t> annual e-waste crisis where only 10% is properly recycled. The system features role-based dashboards, AI chatbot assistance, gamification, and QR-verified pickups to increase recycling rates by 15-20% while ensuring compliance with E-Waste Management Rules 2016.</a:t>
            </a:r>
          </a:p>
          <a:p>
            <a:pPr marL="0" lvl="0" indent="0" algn="just">
              <a:lnSpc>
                <a:spcPct val="115000"/>
              </a:lnSpc>
              <a:spcBef>
                <a:spcPts val="0"/>
              </a:spcBef>
              <a:buSzPct val="45833"/>
              <a:buNone/>
            </a:pPr>
            <a:endParaRPr lang="en-US" sz="1600" dirty="0">
              <a:latin typeface="Times New Roman" panose="02020603050405020304" pitchFamily="18" charset="0"/>
              <a:ea typeface="Cambria"/>
              <a:cs typeface="Times New Roman" panose="02020603050405020304" pitchFamily="18" charset="0"/>
              <a:sym typeface="Cambria"/>
            </a:endParaRPr>
          </a:p>
          <a:p>
            <a:pPr marL="0" lvl="0" indent="0" algn="just">
              <a:lnSpc>
                <a:spcPct val="115000"/>
              </a:lnSpc>
              <a:spcBef>
                <a:spcPts val="0"/>
              </a:spcBef>
              <a:buSzPct val="45833"/>
              <a:buNone/>
            </a:pPr>
            <a:r>
              <a:rPr lang="en-US" sz="1600" b="1" dirty="0">
                <a:latin typeface="Times New Roman" panose="02020603050405020304" pitchFamily="18" charset="0"/>
                <a:ea typeface="Cambria"/>
                <a:cs typeface="Times New Roman" panose="02020603050405020304" pitchFamily="18" charset="0"/>
                <a:sym typeface="Cambria"/>
              </a:rPr>
              <a:t>AI-POWERED DEVICE RECOGNITION</a:t>
            </a:r>
          </a:p>
          <a:p>
            <a:pPr marL="0" lvl="0" indent="0" algn="just">
              <a:lnSpc>
                <a:spcPct val="115000"/>
              </a:lnSpc>
              <a:spcBef>
                <a:spcPts val="0"/>
              </a:spcBef>
              <a:buSzPct val="45833"/>
              <a:buNone/>
            </a:pPr>
            <a:r>
              <a:rPr lang="en-US" sz="1600" b="1" dirty="0">
                <a:latin typeface="Times New Roman" panose="02020603050405020304" pitchFamily="18" charset="0"/>
                <a:ea typeface="Cambria"/>
                <a:cs typeface="Times New Roman" panose="02020603050405020304" pitchFamily="18" charset="0"/>
                <a:sym typeface="Cambria"/>
              </a:rPr>
              <a:t>	</a:t>
            </a:r>
            <a:r>
              <a:rPr lang="en-US" sz="1600" dirty="0">
                <a:latin typeface="Times New Roman" panose="02020603050405020304" pitchFamily="18" charset="0"/>
                <a:ea typeface="Cambria"/>
                <a:cs typeface="Times New Roman" panose="02020603050405020304" pitchFamily="18" charset="0"/>
                <a:sym typeface="Cambria"/>
              </a:rPr>
              <a:t>Faster R-CNN model delivers real-time device identification within 2-3 seconds via camera scanning with automatic disposal recommendations.</a:t>
            </a:r>
          </a:p>
          <a:p>
            <a:pPr marL="0" lvl="0" indent="0" algn="just">
              <a:lnSpc>
                <a:spcPct val="115000"/>
              </a:lnSpc>
              <a:spcBef>
                <a:spcPts val="0"/>
              </a:spcBef>
              <a:buSzPct val="45833"/>
              <a:buNone/>
            </a:pPr>
            <a:endParaRPr lang="en-US" sz="1600" dirty="0">
              <a:latin typeface="Times New Roman" panose="02020603050405020304" pitchFamily="18" charset="0"/>
              <a:ea typeface="Cambria"/>
              <a:cs typeface="Times New Roman" panose="02020603050405020304" pitchFamily="18" charset="0"/>
              <a:sym typeface="Cambria"/>
            </a:endParaRPr>
          </a:p>
          <a:p>
            <a:pPr marL="0" lvl="0" indent="0" algn="just">
              <a:lnSpc>
                <a:spcPct val="115000"/>
              </a:lnSpc>
              <a:spcBef>
                <a:spcPts val="0"/>
              </a:spcBef>
              <a:buSzPct val="45833"/>
              <a:buNone/>
            </a:pPr>
            <a:r>
              <a:rPr lang="en-US" sz="1600" b="1" dirty="0">
                <a:latin typeface="Times New Roman" panose="02020603050405020304" pitchFamily="18" charset="0"/>
                <a:ea typeface="Cambria"/>
                <a:cs typeface="Times New Roman" panose="02020603050405020304" pitchFamily="18" charset="0"/>
                <a:sym typeface="Cambria"/>
              </a:rPr>
              <a:t>MULTI-STAKEHOLDER ECOSYSTEM</a:t>
            </a:r>
          </a:p>
          <a:p>
            <a:pPr marL="0" lvl="0" indent="0" algn="just">
              <a:lnSpc>
                <a:spcPct val="115000"/>
              </a:lnSpc>
              <a:spcBef>
                <a:spcPts val="0"/>
              </a:spcBef>
              <a:buSzPct val="45833"/>
              <a:buNone/>
            </a:pPr>
            <a:r>
              <a:rPr lang="en-US" sz="1600" b="1" dirty="0">
                <a:latin typeface="Times New Roman" panose="02020603050405020304" pitchFamily="18" charset="0"/>
                <a:ea typeface="Cambria"/>
                <a:cs typeface="Times New Roman" panose="02020603050405020304" pitchFamily="18" charset="0"/>
                <a:sym typeface="Cambria"/>
              </a:rPr>
              <a:t>	</a:t>
            </a:r>
            <a:r>
              <a:rPr lang="en-US" sz="1600" dirty="0">
                <a:latin typeface="Times New Roman" panose="02020603050405020304" pitchFamily="18" charset="0"/>
                <a:ea typeface="Cambria"/>
                <a:cs typeface="Times New Roman" panose="02020603050405020304" pitchFamily="18" charset="0"/>
                <a:sym typeface="Cambria"/>
              </a:rPr>
              <a:t>Specialized dashboards for Citizens, NGOs, Recycling Facilities, and Administrators with facility verification and booking management.</a:t>
            </a:r>
          </a:p>
          <a:p>
            <a:pPr marL="0" lvl="0" indent="0" algn="just">
              <a:lnSpc>
                <a:spcPct val="115000"/>
              </a:lnSpc>
              <a:spcBef>
                <a:spcPts val="0"/>
              </a:spcBef>
              <a:buSzPct val="45833"/>
              <a:buNone/>
            </a:pPr>
            <a:endParaRPr lang="en-US" sz="1600" dirty="0">
              <a:latin typeface="Times New Roman" panose="02020603050405020304" pitchFamily="18" charset="0"/>
              <a:ea typeface="Cambria"/>
              <a:cs typeface="Times New Roman" panose="02020603050405020304" pitchFamily="18" charset="0"/>
              <a:sym typeface="Cambria"/>
            </a:endParaRPr>
          </a:p>
          <a:p>
            <a:pPr marL="0" lvl="0" indent="0" algn="just">
              <a:lnSpc>
                <a:spcPct val="115000"/>
              </a:lnSpc>
              <a:spcBef>
                <a:spcPts val="0"/>
              </a:spcBef>
              <a:buSzPct val="45833"/>
              <a:buNone/>
            </a:pPr>
            <a:r>
              <a:rPr lang="en-US" sz="1600" b="1" dirty="0">
                <a:latin typeface="Times New Roman" panose="02020603050405020304" pitchFamily="18" charset="0"/>
                <a:ea typeface="Cambria"/>
                <a:cs typeface="Times New Roman" panose="02020603050405020304" pitchFamily="18" charset="0"/>
                <a:sym typeface="Cambria"/>
              </a:rPr>
              <a:t>INTELLIGENT FACILITY MAPPING</a:t>
            </a:r>
          </a:p>
          <a:p>
            <a:pPr marL="0" lvl="0" indent="0" algn="just">
              <a:lnSpc>
                <a:spcPct val="115000"/>
              </a:lnSpc>
              <a:spcBef>
                <a:spcPts val="0"/>
              </a:spcBef>
              <a:buSzPct val="45833"/>
              <a:buNone/>
            </a:pPr>
            <a:r>
              <a:rPr lang="en-US" sz="1600" b="1" dirty="0">
                <a:latin typeface="Times New Roman" panose="02020603050405020304" pitchFamily="18" charset="0"/>
                <a:ea typeface="Cambria"/>
                <a:cs typeface="Times New Roman" panose="02020603050405020304" pitchFamily="18" charset="0"/>
                <a:sym typeface="Cambria"/>
              </a:rPr>
              <a:t>	</a:t>
            </a:r>
            <a:r>
              <a:rPr lang="en-US" sz="1600" dirty="0" err="1">
                <a:latin typeface="Times New Roman" panose="02020603050405020304" pitchFamily="18" charset="0"/>
                <a:ea typeface="Cambria"/>
                <a:cs typeface="Times New Roman" panose="02020603050405020304" pitchFamily="18" charset="0"/>
                <a:sym typeface="Cambria"/>
              </a:rPr>
              <a:t>MapBox</a:t>
            </a:r>
            <a:r>
              <a:rPr lang="en-US" sz="1600" dirty="0">
                <a:latin typeface="Times New Roman" panose="02020603050405020304" pitchFamily="18" charset="0"/>
                <a:ea typeface="Cambria"/>
                <a:cs typeface="Times New Roman" panose="02020603050405020304" pitchFamily="18" charset="0"/>
                <a:sym typeface="Cambria"/>
              </a:rPr>
              <a:t> integration enables location-based discovery of certified e-waste centers with real-time navigation and proximity filtering.</a:t>
            </a:r>
          </a:p>
          <a:p>
            <a:pPr marL="0" lvl="0" indent="0" algn="just">
              <a:lnSpc>
                <a:spcPct val="115000"/>
              </a:lnSpc>
              <a:spcBef>
                <a:spcPts val="0"/>
              </a:spcBef>
              <a:buSzPct val="45833"/>
              <a:buNone/>
            </a:pPr>
            <a:endParaRPr lang="en-US" sz="1600" b="1" dirty="0">
              <a:latin typeface="Times New Roman" panose="02020603050405020304" pitchFamily="18" charset="0"/>
              <a:ea typeface="Cambria"/>
              <a:cs typeface="Times New Roman" panose="02020603050405020304" pitchFamily="18" charset="0"/>
              <a:sym typeface="Cambria"/>
            </a:endParaRPr>
          </a:p>
          <a:p>
            <a:pPr marL="0" lvl="0" indent="0" algn="just">
              <a:lnSpc>
                <a:spcPct val="115000"/>
              </a:lnSpc>
              <a:spcBef>
                <a:spcPts val="0"/>
              </a:spcBef>
              <a:buSzPct val="45833"/>
              <a:buNone/>
            </a:pPr>
            <a:r>
              <a:rPr lang="en-US" sz="1600" b="1" dirty="0">
                <a:latin typeface="Times New Roman" panose="02020603050405020304" pitchFamily="18" charset="0"/>
                <a:ea typeface="Cambria"/>
                <a:cs typeface="Times New Roman" panose="02020603050405020304" pitchFamily="18" charset="0"/>
                <a:sym typeface="Cambria"/>
              </a:rPr>
              <a:t>GAMIFICATION &amp; IMPACT TRACKING</a:t>
            </a:r>
          </a:p>
          <a:p>
            <a:pPr marL="0" lvl="0" indent="0" algn="just">
              <a:lnSpc>
                <a:spcPct val="115000"/>
              </a:lnSpc>
              <a:spcBef>
                <a:spcPts val="0"/>
              </a:spcBef>
              <a:buSzPct val="45833"/>
              <a:buNone/>
            </a:pPr>
            <a:r>
              <a:rPr lang="en-US" sz="1600" dirty="0">
                <a:latin typeface="Times New Roman" panose="02020603050405020304" pitchFamily="18" charset="0"/>
                <a:ea typeface="Cambria"/>
                <a:cs typeface="Times New Roman" panose="02020603050405020304" pitchFamily="18" charset="0"/>
                <a:sym typeface="Cambria"/>
              </a:rPr>
              <a:t>	Points-based rewards, leaderboards, and carbon footprint tracking (20kg CO2 saved per device) with digital certificates for sustained engagement.</a:t>
            </a:r>
          </a:p>
          <a:p>
            <a:pPr marL="0" lvl="0" indent="0" algn="just">
              <a:lnSpc>
                <a:spcPct val="115000"/>
              </a:lnSpc>
              <a:spcBef>
                <a:spcPts val="0"/>
              </a:spcBef>
              <a:buSzPct val="45833"/>
              <a:buNone/>
            </a:pPr>
            <a:endParaRPr lang="en-US" sz="1600" dirty="0">
              <a:latin typeface="Times New Roman" panose="02020603050405020304" pitchFamily="18" charset="0"/>
              <a:ea typeface="Cambria"/>
              <a:cs typeface="Times New Roman" panose="02020603050405020304" pitchFamily="18" charset="0"/>
              <a:sym typeface="Cambria"/>
            </a:endParaRPr>
          </a:p>
          <a:p>
            <a:pPr marL="0" lvl="0" indent="0" algn="just">
              <a:lnSpc>
                <a:spcPct val="115000"/>
              </a:lnSpc>
              <a:spcBef>
                <a:spcPts val="0"/>
              </a:spcBef>
              <a:buSzPct val="45833"/>
              <a:buNone/>
            </a:pPr>
            <a:r>
              <a:rPr lang="en-US" sz="1600" b="1" dirty="0">
                <a:latin typeface="Times New Roman" panose="02020603050405020304" pitchFamily="18" charset="0"/>
                <a:ea typeface="Cambria"/>
                <a:cs typeface="Times New Roman" panose="02020603050405020304" pitchFamily="18" charset="0"/>
                <a:sym typeface="Cambria"/>
              </a:rPr>
              <a:t>SECURE &amp; COMPLIANT ARCHITECTURE</a:t>
            </a:r>
          </a:p>
          <a:p>
            <a:pPr marL="0" lvl="0" indent="0" algn="just">
              <a:lnSpc>
                <a:spcPct val="115000"/>
              </a:lnSpc>
              <a:spcBef>
                <a:spcPts val="0"/>
              </a:spcBef>
              <a:buSzPct val="45833"/>
              <a:buNone/>
            </a:pPr>
            <a:r>
              <a:rPr lang="en-US" sz="1600" b="1" dirty="0">
                <a:latin typeface="Times New Roman" panose="02020603050405020304" pitchFamily="18" charset="0"/>
                <a:ea typeface="Cambria"/>
                <a:cs typeface="Times New Roman" panose="02020603050405020304" pitchFamily="18" charset="0"/>
                <a:sym typeface="Cambria"/>
              </a:rPr>
              <a:t>	</a:t>
            </a:r>
            <a:r>
              <a:rPr lang="en-US" sz="1600" dirty="0">
                <a:latin typeface="Times New Roman" panose="02020603050405020304" pitchFamily="18" charset="0"/>
                <a:ea typeface="Cambria"/>
                <a:cs typeface="Times New Roman" panose="02020603050405020304" pitchFamily="18" charset="0"/>
                <a:sym typeface="Cambria"/>
              </a:rPr>
              <a:t>Auth0 JWT authentication, RBAC, GDPR compliance, deployed on </a:t>
            </a:r>
            <a:r>
              <a:rPr lang="en-US" sz="1600" dirty="0" err="1">
                <a:latin typeface="Times New Roman" panose="02020603050405020304" pitchFamily="18" charset="0"/>
                <a:ea typeface="Cambria"/>
                <a:cs typeface="Times New Roman" panose="02020603050405020304" pitchFamily="18" charset="0"/>
                <a:sym typeface="Cambria"/>
              </a:rPr>
              <a:t>Vercel</a:t>
            </a:r>
            <a:r>
              <a:rPr lang="en-US" sz="1600" dirty="0">
                <a:latin typeface="Times New Roman" panose="02020603050405020304" pitchFamily="18" charset="0"/>
                <a:ea typeface="Cambria"/>
                <a:cs typeface="Times New Roman" panose="02020603050405020304" pitchFamily="18" charset="0"/>
                <a:sym typeface="Cambria"/>
              </a:rPr>
              <a:t> and Railway with PostgreSQL/MongoDB ensuring 99.9% uptime.</a:t>
            </a:r>
          </a:p>
          <a:p>
            <a:pPr marL="0" lvl="0" indent="0" algn="just">
              <a:lnSpc>
                <a:spcPct val="115000"/>
              </a:lnSpc>
              <a:spcBef>
                <a:spcPts val="0"/>
              </a:spcBef>
              <a:buSzPct val="45833"/>
              <a:buNone/>
            </a:pPr>
            <a:endParaRPr lang="en-US" sz="1600" dirty="0">
              <a:latin typeface="Times New Roman" panose="02020603050405020304" pitchFamily="18" charset="0"/>
              <a:ea typeface="Cambria"/>
              <a:cs typeface="Times New Roman" panose="02020603050405020304" pitchFamily="18" charset="0"/>
              <a:sym typeface="Cambria"/>
            </a:endParaRPr>
          </a:p>
          <a:p>
            <a:pPr marL="0" lvl="0" indent="0" algn="just">
              <a:lnSpc>
                <a:spcPct val="115000"/>
              </a:lnSpc>
              <a:spcBef>
                <a:spcPts val="0"/>
              </a:spcBef>
              <a:buSzPct val="45833"/>
              <a:buNone/>
            </a:pPr>
            <a:endParaRPr sz="1600" dirty="0">
              <a:latin typeface="Times New Roman" panose="02020603050405020304" pitchFamily="18" charset="0"/>
              <a:ea typeface="Cambria"/>
              <a:cs typeface="Times New Roman" panose="02020603050405020304" pitchFamily="18" charset="0"/>
              <a:sym typeface="Cambria"/>
            </a:endParaRPr>
          </a:p>
        </p:txBody>
      </p:sp>
      <p:sp>
        <p:nvSpPr>
          <p:cNvPr id="102" name="Google Shape;102;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2</a:t>
            </a:fld>
            <a:endParaRPr sz="1800" b="1">
              <a:solidFill>
                <a:srgbClr val="385623"/>
              </a:solidFill>
            </a:endParaRPr>
          </a:p>
        </p:txBody>
      </p:sp>
      <p:sp>
        <p:nvSpPr>
          <p:cNvPr id="103" name="Google Shape;103;p2"/>
          <p:cNvSpPr txBox="1">
            <a:spLocks noGrp="1"/>
          </p:cNvSpPr>
          <p:nvPr>
            <p:ph type="title"/>
          </p:nvPr>
        </p:nvSpPr>
        <p:spPr>
          <a:xfrm>
            <a:off x="838200" y="351116"/>
            <a:ext cx="10515600" cy="57698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ABSTRACT OF THE PROJECT </a:t>
            </a:r>
            <a:endParaRPr sz="2400" b="1" dirty="0">
              <a:solidFill>
                <a:srgbClr val="2F5496"/>
              </a:solidFill>
              <a:latin typeface="Cambria"/>
              <a:ea typeface="Cambria"/>
              <a:cs typeface="Cambria"/>
              <a:sym typeface="Cambria"/>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additive="base">
                                        <p:cTn id="7" dur="500" fill="hold"/>
                                        <p:tgtEl>
                                          <p:spTgt spid="103"/>
                                        </p:tgtEl>
                                        <p:attrNameLst>
                                          <p:attrName>ppt_x</p:attrName>
                                        </p:attrNameLst>
                                      </p:cBhvr>
                                      <p:tavLst>
                                        <p:tav tm="0">
                                          <p:val>
                                            <p:strVal val="#ppt_x"/>
                                          </p:val>
                                        </p:tav>
                                        <p:tav tm="100000">
                                          <p:val>
                                            <p:strVal val="#ppt_x"/>
                                          </p:val>
                                        </p:tav>
                                      </p:tavLst>
                                    </p:anim>
                                    <p:anim calcmode="lin" valueType="num">
                                      <p:cBhvr additive="base">
                                        <p:cTn id="8"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02904BC2-A200-3946-3FEA-CBF96B5C7238}"/>
            </a:ext>
          </a:extLst>
        </p:cNvPr>
        <p:cNvGrpSpPr/>
        <p:nvPr/>
      </p:nvGrpSpPr>
      <p:grpSpPr>
        <a:xfrm>
          <a:off x="0" y="0"/>
          <a:ext cx="0" cy="0"/>
          <a:chOff x="0" y="0"/>
          <a:chExt cx="0" cy="0"/>
        </a:xfrm>
      </p:grpSpPr>
      <p:sp>
        <p:nvSpPr>
          <p:cNvPr id="99" name="Google Shape;99;p2">
            <a:extLst>
              <a:ext uri="{FF2B5EF4-FFF2-40B4-BE49-F238E27FC236}">
                <a16:creationId xmlns:a16="http://schemas.microsoft.com/office/drawing/2014/main" id="{49E2EE1F-6560-545E-48D6-786ADD254236}"/>
              </a:ext>
            </a:extLst>
          </p:cNvPr>
          <p:cNvSpPr txBox="1">
            <a:spLocks noGrp="1"/>
          </p:cNvSpPr>
          <p:nvPr>
            <p:ph type="body" idx="1"/>
          </p:nvPr>
        </p:nvSpPr>
        <p:spPr>
          <a:xfrm>
            <a:off x="838200" y="928099"/>
            <a:ext cx="10515600" cy="5343392"/>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0" indent="0" algn="just">
              <a:lnSpc>
                <a:spcPct val="115000"/>
              </a:lnSpc>
              <a:spcBef>
                <a:spcPts val="0"/>
              </a:spcBef>
              <a:buSzPct val="45833"/>
              <a:buNone/>
            </a:pPr>
            <a:r>
              <a:rPr lang="en-US" sz="2400" dirty="0">
                <a:solidFill>
                  <a:srgbClr val="C00052"/>
                </a:solidFill>
                <a:latin typeface="Cambria"/>
                <a:ea typeface="Cambria"/>
                <a:cs typeface="Cambria"/>
                <a:sym typeface="Cambria"/>
              </a:rPr>
              <a:t>	</a:t>
            </a:r>
            <a:r>
              <a:rPr lang="en-US" sz="2000" dirty="0">
                <a:latin typeface="Times New Roman" panose="02020603050405020304" pitchFamily="18" charset="0"/>
                <a:ea typeface="Cambria"/>
                <a:cs typeface="Times New Roman" panose="02020603050405020304" pitchFamily="18" charset="0"/>
                <a:sym typeface="Cambria"/>
              </a:rPr>
              <a:t>The project aims to revolutionize e-waste management by creating a comprehensive platform that connects citizens with certified e-waste disposal facilities. By integrating advanced technologies including AI/ML, and real-time geolocation services, it provides users with an intelligent system to responsibly dispose of electronic waste, track their environmental impact, earn rewards, and contribute to reducing the global e-waste crisis while promoting environmental sustainability and regulatory compliance.</a:t>
            </a:r>
            <a:endParaRPr sz="2000" dirty="0">
              <a:latin typeface="Times New Roman" panose="02020603050405020304" pitchFamily="18" charset="0"/>
              <a:ea typeface="Cambria"/>
              <a:cs typeface="Times New Roman" panose="02020603050405020304" pitchFamily="18" charset="0"/>
              <a:sym typeface="Cambria"/>
            </a:endParaRPr>
          </a:p>
        </p:txBody>
      </p:sp>
      <p:sp>
        <p:nvSpPr>
          <p:cNvPr id="102" name="Google Shape;102;p2">
            <a:extLst>
              <a:ext uri="{FF2B5EF4-FFF2-40B4-BE49-F238E27FC236}">
                <a16:creationId xmlns:a16="http://schemas.microsoft.com/office/drawing/2014/main" id="{1A116019-4DB4-CC86-8566-B4584156D5A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3</a:t>
            </a:fld>
            <a:endParaRPr sz="1800" b="1">
              <a:solidFill>
                <a:srgbClr val="385623"/>
              </a:solidFill>
            </a:endParaRPr>
          </a:p>
        </p:txBody>
      </p:sp>
      <p:sp>
        <p:nvSpPr>
          <p:cNvPr id="103" name="Google Shape;103;p2">
            <a:extLst>
              <a:ext uri="{FF2B5EF4-FFF2-40B4-BE49-F238E27FC236}">
                <a16:creationId xmlns:a16="http://schemas.microsoft.com/office/drawing/2014/main" id="{F985E17A-EC68-F94C-6C1D-D85B1650BCDF}"/>
              </a:ext>
            </a:extLst>
          </p:cNvPr>
          <p:cNvSpPr txBox="1">
            <a:spLocks noGrp="1"/>
          </p:cNvSpPr>
          <p:nvPr>
            <p:ph type="title"/>
          </p:nvPr>
        </p:nvSpPr>
        <p:spPr>
          <a:xfrm>
            <a:off x="838200" y="351116"/>
            <a:ext cx="10515600" cy="57698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AIM OF THE PROJECT </a:t>
            </a:r>
            <a:endParaRPr sz="2400" b="1" dirty="0">
              <a:solidFill>
                <a:srgbClr val="2F5496"/>
              </a:solidFill>
              <a:latin typeface="Cambria"/>
              <a:ea typeface="Cambria"/>
              <a:cs typeface="Cambria"/>
              <a:sym typeface="Cambria"/>
            </a:endParaRPr>
          </a:p>
        </p:txBody>
      </p:sp>
    </p:spTree>
    <p:extLst>
      <p:ext uri="{BB962C8B-B14F-4D97-AF65-F5344CB8AC3E}">
        <p14:creationId xmlns:p14="http://schemas.microsoft.com/office/powerpoint/2010/main" val="18984969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additive="base">
                                        <p:cTn id="7" dur="500" fill="hold"/>
                                        <p:tgtEl>
                                          <p:spTgt spid="103"/>
                                        </p:tgtEl>
                                        <p:attrNameLst>
                                          <p:attrName>ppt_x</p:attrName>
                                        </p:attrNameLst>
                                      </p:cBhvr>
                                      <p:tavLst>
                                        <p:tav tm="0">
                                          <p:val>
                                            <p:strVal val="#ppt_x"/>
                                          </p:val>
                                        </p:tav>
                                        <p:tav tm="100000">
                                          <p:val>
                                            <p:strVal val="#ppt_x"/>
                                          </p:val>
                                        </p:tav>
                                      </p:tavLst>
                                    </p:anim>
                                    <p:anim calcmode="lin" valueType="num">
                                      <p:cBhvr additive="base">
                                        <p:cTn id="8"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38"/>
          <p:cNvSpPr txBox="1">
            <a:spLocks noGrp="1"/>
          </p:cNvSpPr>
          <p:nvPr>
            <p:ph type="body" idx="1"/>
          </p:nvPr>
        </p:nvSpPr>
        <p:spPr>
          <a:xfrm>
            <a:off x="838200" y="922127"/>
            <a:ext cx="10515600" cy="519329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fontScale="77500" lnSpcReduction="20000"/>
          </a:bodyPr>
          <a:lstStyle/>
          <a:p>
            <a:pPr marL="0" lvl="0" indent="0" algn="just">
              <a:spcBef>
                <a:spcPts val="0"/>
              </a:spcBef>
              <a:spcAft>
                <a:spcPts val="1200"/>
              </a:spcAft>
              <a:buSzPts val="2800"/>
              <a:buNone/>
            </a:pPr>
            <a:endParaRPr lang="en-US" sz="2200" dirty="0">
              <a:solidFill>
                <a:srgbClr val="FF0000"/>
              </a:solidFill>
              <a:latin typeface="Cambria"/>
              <a:ea typeface="Cambria"/>
              <a:cs typeface="Cambria"/>
              <a:sym typeface="Cambria"/>
            </a:endParaRPr>
          </a:p>
          <a:p>
            <a:pPr marL="0" lvl="0" indent="0" algn="just">
              <a:spcBef>
                <a:spcPts val="0"/>
              </a:spcBef>
              <a:spcAft>
                <a:spcPts val="1200"/>
              </a:spcAft>
              <a:buSzPts val="2800"/>
              <a:buNone/>
            </a:pPr>
            <a:r>
              <a:rPr lang="en-US" sz="2200" dirty="0">
                <a:solidFill>
                  <a:srgbClr val="FF0000"/>
                </a:solidFill>
                <a:latin typeface="Cambria"/>
                <a:ea typeface="Cambria"/>
                <a:cs typeface="Cambria"/>
                <a:sym typeface="Cambria"/>
              </a:rPr>
              <a:t>• </a:t>
            </a:r>
            <a:r>
              <a:rPr lang="en-US" sz="2200" b="1" dirty="0">
                <a:solidFill>
                  <a:srgbClr val="FF0000"/>
                </a:solidFill>
                <a:latin typeface="Cambria"/>
                <a:ea typeface="Cambria"/>
                <a:cs typeface="Cambria"/>
                <a:sym typeface="Cambria"/>
              </a:rPr>
              <a:t>Smart Facility Locator: </a:t>
            </a:r>
            <a:r>
              <a:rPr lang="en-US" sz="2200" dirty="0">
                <a:latin typeface="Cambria"/>
                <a:ea typeface="Cambria"/>
                <a:cs typeface="Cambria"/>
                <a:sym typeface="Cambria"/>
              </a:rPr>
              <a:t>Utilize AI-powered geolocation and </a:t>
            </a:r>
            <a:r>
              <a:rPr lang="en-US" sz="2200" dirty="0" err="1">
                <a:latin typeface="Cambria"/>
                <a:ea typeface="Cambria"/>
                <a:cs typeface="Cambria"/>
                <a:sym typeface="Cambria"/>
              </a:rPr>
              <a:t>MapBox</a:t>
            </a:r>
            <a:r>
              <a:rPr lang="en-US" sz="2200" dirty="0">
                <a:latin typeface="Cambria"/>
                <a:ea typeface="Cambria"/>
                <a:cs typeface="Cambria"/>
                <a:sym typeface="Cambria"/>
              </a:rPr>
              <a:t>/Leaflet APIs to identify nearest certified e-waste collection centers with real-time availability, capacity information, and accepted device types. </a:t>
            </a:r>
          </a:p>
          <a:p>
            <a:pPr marL="0" lvl="0" indent="0" algn="just">
              <a:spcBef>
                <a:spcPts val="0"/>
              </a:spcBef>
              <a:spcAft>
                <a:spcPts val="1200"/>
              </a:spcAft>
              <a:buSzPts val="2800"/>
              <a:buNone/>
            </a:pPr>
            <a:r>
              <a:rPr lang="en-US" sz="2200" dirty="0">
                <a:solidFill>
                  <a:srgbClr val="FF0000"/>
                </a:solidFill>
                <a:latin typeface="Cambria"/>
                <a:ea typeface="Cambria"/>
                <a:cs typeface="Cambria"/>
                <a:sym typeface="Cambria"/>
              </a:rPr>
              <a:t>• </a:t>
            </a:r>
            <a:r>
              <a:rPr lang="en-US" sz="2200" b="1" dirty="0">
                <a:solidFill>
                  <a:srgbClr val="FF0000"/>
                </a:solidFill>
                <a:latin typeface="Cambria"/>
                <a:ea typeface="Cambria"/>
                <a:cs typeface="Cambria"/>
                <a:sym typeface="Cambria"/>
              </a:rPr>
              <a:t>Seamless Booking &amp; Pickup System: </a:t>
            </a:r>
            <a:r>
              <a:rPr lang="en-US" sz="2200" dirty="0">
                <a:latin typeface="Cambria"/>
                <a:ea typeface="Cambria"/>
                <a:cs typeface="Cambria"/>
                <a:sym typeface="Cambria"/>
              </a:rPr>
              <a:t>Enable users to schedule doorstep pickups, track collection status in real-time, and receive instant confirmation with QR code verification for secure transactions. . </a:t>
            </a:r>
          </a:p>
          <a:p>
            <a:pPr marL="0" lvl="0" indent="0" algn="just">
              <a:spcBef>
                <a:spcPts val="0"/>
              </a:spcBef>
              <a:spcAft>
                <a:spcPts val="1200"/>
              </a:spcAft>
              <a:buSzPts val="2800"/>
              <a:buNone/>
            </a:pPr>
            <a:r>
              <a:rPr lang="en-US" sz="2200" dirty="0">
                <a:solidFill>
                  <a:srgbClr val="FF0000"/>
                </a:solidFill>
                <a:latin typeface="Cambria"/>
                <a:ea typeface="Cambria"/>
                <a:cs typeface="Cambria"/>
                <a:sym typeface="Cambria"/>
              </a:rPr>
              <a:t>•</a:t>
            </a:r>
            <a:r>
              <a:rPr lang="en-US" sz="2200" b="1" dirty="0">
                <a:solidFill>
                  <a:srgbClr val="FF0000"/>
                </a:solidFill>
                <a:latin typeface="Cambria"/>
                <a:ea typeface="Cambria"/>
                <a:cs typeface="Cambria"/>
                <a:sym typeface="Cambria"/>
              </a:rPr>
              <a:t> Gamification &amp; Rewards System</a:t>
            </a:r>
            <a:r>
              <a:rPr lang="en-US" sz="2200" dirty="0">
                <a:solidFill>
                  <a:srgbClr val="FF0000"/>
                </a:solidFill>
                <a:latin typeface="Cambria"/>
                <a:ea typeface="Cambria"/>
                <a:cs typeface="Cambria"/>
                <a:sym typeface="Cambria"/>
              </a:rPr>
              <a:t>: </a:t>
            </a:r>
            <a:r>
              <a:rPr lang="en-US" sz="2200" dirty="0">
                <a:latin typeface="Cambria"/>
                <a:ea typeface="Cambria"/>
                <a:cs typeface="Cambria"/>
                <a:sym typeface="Cambria"/>
              </a:rPr>
              <a:t>Develop an incentive mechanism where users earn points for each recycling transaction, redeem for vouchers or cashback, and compete on leaderboards to encourage consistent participation. </a:t>
            </a:r>
          </a:p>
          <a:p>
            <a:pPr marL="0" lvl="0" indent="0" algn="just">
              <a:spcBef>
                <a:spcPts val="0"/>
              </a:spcBef>
              <a:spcAft>
                <a:spcPts val="1200"/>
              </a:spcAft>
              <a:buSzPts val="2800"/>
              <a:buNone/>
            </a:pPr>
            <a:r>
              <a:rPr lang="en-US" sz="2200" dirty="0">
                <a:solidFill>
                  <a:srgbClr val="FF0000"/>
                </a:solidFill>
                <a:latin typeface="Cambria"/>
                <a:ea typeface="Cambria"/>
                <a:cs typeface="Cambria"/>
                <a:sym typeface="Cambria"/>
              </a:rPr>
              <a:t>• </a:t>
            </a:r>
            <a:r>
              <a:rPr lang="en-US" sz="2200" b="1" dirty="0">
                <a:solidFill>
                  <a:srgbClr val="FF0000"/>
                </a:solidFill>
                <a:latin typeface="Cambria"/>
                <a:ea typeface="Cambria"/>
                <a:cs typeface="Cambria"/>
                <a:sym typeface="Cambria"/>
              </a:rPr>
              <a:t>Interactive Impact Dashboard</a:t>
            </a:r>
            <a:r>
              <a:rPr lang="en-US" sz="2200" dirty="0">
                <a:solidFill>
                  <a:srgbClr val="FF0000"/>
                </a:solidFill>
                <a:latin typeface="Cambria"/>
                <a:ea typeface="Cambria"/>
                <a:cs typeface="Cambria"/>
                <a:sym typeface="Cambria"/>
              </a:rPr>
              <a:t>: </a:t>
            </a:r>
            <a:r>
              <a:rPr lang="en-US" sz="2200" dirty="0">
                <a:latin typeface="Cambria"/>
                <a:ea typeface="Cambria"/>
                <a:cs typeface="Cambria"/>
                <a:sym typeface="Cambria"/>
              </a:rPr>
              <a:t>Visualize users' environmental contributions with metrics such as CO2 saved, materials recovered, and carbon footprint reduction, with social media sharing capabilities. </a:t>
            </a:r>
          </a:p>
          <a:p>
            <a:pPr marL="0" lvl="0" indent="0" algn="just">
              <a:spcBef>
                <a:spcPts val="0"/>
              </a:spcBef>
              <a:spcAft>
                <a:spcPts val="1200"/>
              </a:spcAft>
              <a:buSzPts val="2800"/>
              <a:buNone/>
            </a:pPr>
            <a:r>
              <a:rPr lang="en-US" sz="2200" b="1" dirty="0">
                <a:solidFill>
                  <a:srgbClr val="FF0000"/>
                </a:solidFill>
                <a:latin typeface="Cambria"/>
                <a:ea typeface="Cambria"/>
                <a:cs typeface="Cambria"/>
                <a:sym typeface="Cambria"/>
              </a:rPr>
              <a:t>• ML-Powered Chatbot Assistant: </a:t>
            </a:r>
            <a:r>
              <a:rPr lang="en-US" sz="2200" dirty="0">
                <a:latin typeface="Cambria"/>
                <a:ea typeface="Cambria"/>
                <a:cs typeface="Cambria"/>
                <a:sym typeface="Cambria"/>
              </a:rPr>
              <a:t>Implement an intelligent conversational AI using NLP and machine learning to provide 24/7 support, answer e-waste queries, offer personalized recycling recommendations, and guide users through the disposal process. </a:t>
            </a:r>
          </a:p>
          <a:p>
            <a:pPr marL="0" lvl="0" indent="0" algn="just">
              <a:spcBef>
                <a:spcPts val="0"/>
              </a:spcBef>
              <a:spcAft>
                <a:spcPts val="1200"/>
              </a:spcAft>
              <a:buSzPts val="2800"/>
              <a:buNone/>
            </a:pPr>
            <a:r>
              <a:rPr lang="en-US" sz="2200" dirty="0">
                <a:solidFill>
                  <a:srgbClr val="FF0000"/>
                </a:solidFill>
                <a:latin typeface="Cambria"/>
                <a:ea typeface="Cambria"/>
                <a:cs typeface="Cambria"/>
                <a:sym typeface="Cambria"/>
              </a:rPr>
              <a:t>• </a:t>
            </a:r>
            <a:r>
              <a:rPr lang="en-US" sz="2200" b="1" dirty="0">
                <a:solidFill>
                  <a:srgbClr val="FF0000"/>
                </a:solidFill>
                <a:latin typeface="Cambria"/>
                <a:ea typeface="Cambria"/>
                <a:cs typeface="Cambria"/>
                <a:sym typeface="Cambria"/>
              </a:rPr>
              <a:t>Educational Hub: </a:t>
            </a:r>
            <a:r>
              <a:rPr lang="en-US" sz="2200" dirty="0">
                <a:latin typeface="Cambria"/>
                <a:ea typeface="Cambria"/>
                <a:cs typeface="Cambria"/>
                <a:sym typeface="Cambria"/>
              </a:rPr>
              <a:t>Provide comprehensive resources including video tutorials, recycling guides, environmental impact calculators, and sustainability courses with certification to raise awareness.</a:t>
            </a:r>
          </a:p>
          <a:p>
            <a:pPr marL="0" lvl="0" indent="0" algn="just">
              <a:spcBef>
                <a:spcPts val="0"/>
              </a:spcBef>
              <a:spcAft>
                <a:spcPts val="1200"/>
              </a:spcAft>
              <a:buSzPts val="2800"/>
              <a:buNone/>
            </a:pPr>
            <a:r>
              <a:rPr lang="en-US" sz="2200" dirty="0">
                <a:solidFill>
                  <a:srgbClr val="FF0000"/>
                </a:solidFill>
                <a:latin typeface="Cambria"/>
                <a:ea typeface="Cambria"/>
                <a:cs typeface="Cambria"/>
                <a:sym typeface="Cambria"/>
              </a:rPr>
              <a:t>• </a:t>
            </a:r>
            <a:r>
              <a:rPr lang="en-US" sz="2200" b="1" dirty="0">
                <a:solidFill>
                  <a:srgbClr val="FF0000"/>
                </a:solidFill>
                <a:latin typeface="Cambria"/>
                <a:ea typeface="Cambria"/>
                <a:cs typeface="Cambria"/>
                <a:sym typeface="Cambria"/>
              </a:rPr>
              <a:t>Corporate Dashboard: </a:t>
            </a:r>
            <a:r>
              <a:rPr lang="en-US" sz="2200" dirty="0">
                <a:latin typeface="Cambria"/>
                <a:ea typeface="Cambria"/>
                <a:cs typeface="Cambria"/>
                <a:sym typeface="Cambria"/>
              </a:rPr>
              <a:t>Enable businesses to manage bulk e-waste disposal, track compliance with environmental regulations, access detailed analytics, and generate automated CSR reports. </a:t>
            </a:r>
          </a:p>
          <a:p>
            <a:pPr marL="0" lvl="0" indent="0" algn="just">
              <a:spcBef>
                <a:spcPts val="0"/>
              </a:spcBef>
              <a:spcAft>
                <a:spcPts val="1200"/>
              </a:spcAft>
              <a:buSzPts val="2800"/>
              <a:buNone/>
            </a:pPr>
            <a:r>
              <a:rPr lang="en-US" sz="2200" dirty="0">
                <a:solidFill>
                  <a:srgbClr val="FF0000"/>
                </a:solidFill>
                <a:latin typeface="Cambria"/>
                <a:ea typeface="Cambria"/>
                <a:cs typeface="Cambria"/>
                <a:sym typeface="Cambria"/>
              </a:rPr>
              <a:t>• </a:t>
            </a:r>
            <a:r>
              <a:rPr lang="en-US" sz="2200" b="1" dirty="0">
                <a:solidFill>
                  <a:srgbClr val="FF0000"/>
                </a:solidFill>
                <a:latin typeface="Cambria"/>
                <a:ea typeface="Cambria"/>
                <a:cs typeface="Cambria"/>
                <a:sym typeface="Cambria"/>
              </a:rPr>
              <a:t>Multi-Platform Accessibility: </a:t>
            </a:r>
            <a:r>
              <a:rPr lang="en-US" sz="2200" dirty="0">
                <a:latin typeface="Cambria"/>
                <a:ea typeface="Cambria"/>
                <a:cs typeface="Cambria"/>
                <a:sym typeface="Cambria"/>
              </a:rPr>
              <a:t>Develop responsive web application using Next.js and mobile applications for iOS and Android with offline mode, push notifications, and barcode scanning for device registration. </a:t>
            </a:r>
          </a:p>
          <a:p>
            <a:pPr marL="1143000" lvl="2" indent="-101600" algn="l" rtl="0">
              <a:lnSpc>
                <a:spcPct val="90000"/>
              </a:lnSpc>
              <a:spcBef>
                <a:spcPts val="500"/>
              </a:spcBef>
              <a:spcAft>
                <a:spcPts val="0"/>
              </a:spcAft>
              <a:buClr>
                <a:schemeClr val="dk1"/>
              </a:buClr>
              <a:buSzPts val="2000"/>
              <a:buNone/>
            </a:pPr>
            <a:endParaRPr dirty="0"/>
          </a:p>
        </p:txBody>
      </p:sp>
      <p:sp>
        <p:nvSpPr>
          <p:cNvPr id="100" name="Google Shape;10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4</a:t>
            </a:fld>
            <a:endParaRPr sz="1800" b="1">
              <a:solidFill>
                <a:srgbClr val="385623"/>
              </a:solidFill>
            </a:endParaRPr>
          </a:p>
        </p:txBody>
      </p:sp>
      <p:sp>
        <p:nvSpPr>
          <p:cNvPr id="101" name="Google Shape;101;p38"/>
          <p:cNvSpPr txBox="1">
            <a:spLocks noGrp="1"/>
          </p:cNvSpPr>
          <p:nvPr>
            <p:ph type="title"/>
          </p:nvPr>
        </p:nvSpPr>
        <p:spPr>
          <a:xfrm>
            <a:off x="838200" y="240434"/>
            <a:ext cx="10515600" cy="57698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OBJECTIVES OF THE PROJECT </a:t>
            </a:r>
            <a:endParaRPr sz="2400" b="1" dirty="0">
              <a:solidFill>
                <a:srgbClr val="2F5496"/>
              </a:solidFill>
              <a:latin typeface="Cambria"/>
              <a:ea typeface="Cambria"/>
              <a:cs typeface="Cambria"/>
              <a:sym typeface="Cambria"/>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body" idx="1"/>
          </p:nvPr>
        </p:nvSpPr>
        <p:spPr>
          <a:xfrm>
            <a:off x="640373" y="984738"/>
            <a:ext cx="10911253" cy="5152294"/>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lvl="0" indent="0" algn="just">
              <a:spcBef>
                <a:spcPts val="1200"/>
              </a:spcBef>
              <a:spcAft>
                <a:spcPts val="1200"/>
              </a:spcAft>
              <a:buSzPts val="2800"/>
              <a:buNone/>
            </a:pPr>
            <a:r>
              <a:rPr lang="en-US" sz="1800" b="1" dirty="0">
                <a:solidFill>
                  <a:srgbClr val="FF0000"/>
                </a:solidFill>
                <a:latin typeface="Times New Roman" panose="02020603050405020304" pitchFamily="18" charset="0"/>
                <a:cs typeface="Times New Roman" panose="02020603050405020304" pitchFamily="18" charset="0"/>
              </a:rPr>
              <a:t>E-waste Crisis: </a:t>
            </a:r>
            <a:r>
              <a:rPr lang="en-US" sz="1800" dirty="0">
                <a:latin typeface="Times New Roman" panose="02020603050405020304" pitchFamily="18" charset="0"/>
                <a:cs typeface="Times New Roman" panose="02020603050405020304" pitchFamily="18" charset="0"/>
              </a:rPr>
              <a:t>53.6 million tons of e-waste generated globally in 2019, projected to reach 74 million tons by 2030, with exponential growth rates.</a:t>
            </a:r>
          </a:p>
          <a:p>
            <a:pPr marL="0" lvl="0" indent="0" algn="just">
              <a:spcBef>
                <a:spcPts val="0"/>
              </a:spcBef>
              <a:spcAft>
                <a:spcPts val="1200"/>
              </a:spcAft>
              <a:buSzPts val="2800"/>
              <a:buNone/>
            </a:pPr>
            <a:r>
              <a:rPr lang="en-US" sz="1800" b="1" dirty="0">
                <a:solidFill>
                  <a:srgbClr val="FF0000"/>
                </a:solidFill>
                <a:latin typeface="Times New Roman" panose="02020603050405020304" pitchFamily="18" charset="0"/>
                <a:cs typeface="Times New Roman" panose="02020603050405020304" pitchFamily="18" charset="0"/>
              </a:rPr>
              <a:t>Poor Recycling Rates: </a:t>
            </a:r>
            <a:r>
              <a:rPr lang="en-US" sz="1800" dirty="0">
                <a:latin typeface="Times New Roman" panose="02020603050405020304" pitchFamily="18" charset="0"/>
                <a:cs typeface="Times New Roman" panose="02020603050405020304" pitchFamily="18" charset="0"/>
              </a:rPr>
              <a:t>Only 17.4% of e-waste is properly recycled, leaving 82.6% improperly disposed, causing severe soil, water, and air pollution.</a:t>
            </a:r>
          </a:p>
          <a:p>
            <a:pPr marL="0" lvl="0" indent="0" algn="just">
              <a:spcBef>
                <a:spcPts val="0"/>
              </a:spcBef>
              <a:spcAft>
                <a:spcPts val="1200"/>
              </a:spcAft>
              <a:buSzPts val="2800"/>
              <a:buNone/>
            </a:pPr>
            <a:r>
              <a:rPr lang="en-US" sz="1800" b="1" dirty="0">
                <a:solidFill>
                  <a:srgbClr val="FF0000"/>
                </a:solidFill>
                <a:latin typeface="Times New Roman" panose="02020603050405020304" pitchFamily="18" charset="0"/>
                <a:cs typeface="Times New Roman" panose="02020603050405020304" pitchFamily="18" charset="0"/>
              </a:rPr>
              <a:t>Toxic Materials: </a:t>
            </a:r>
            <a:r>
              <a:rPr lang="en-US" sz="1800" dirty="0">
                <a:latin typeface="Times New Roman" panose="02020603050405020304" pitchFamily="18" charset="0"/>
                <a:cs typeface="Times New Roman" panose="02020603050405020304" pitchFamily="18" charset="0"/>
              </a:rPr>
              <a:t>E-waste contains hazardous substances (lead, mercury, cadmium, beryllium) causing serious health risks and long-term environmental damage. </a:t>
            </a:r>
          </a:p>
          <a:p>
            <a:pPr marL="0" lvl="0" indent="0" algn="just">
              <a:spcBef>
                <a:spcPts val="0"/>
              </a:spcBef>
              <a:spcAft>
                <a:spcPts val="1200"/>
              </a:spcAft>
              <a:buSzPts val="2800"/>
              <a:buNone/>
            </a:pPr>
            <a:r>
              <a:rPr lang="en-US" sz="1800" b="1" dirty="0">
                <a:solidFill>
                  <a:srgbClr val="FF0000"/>
                </a:solidFill>
                <a:latin typeface="Times New Roman" panose="02020603050405020304" pitchFamily="18" charset="0"/>
                <a:cs typeface="Times New Roman" panose="02020603050405020304" pitchFamily="18" charset="0"/>
              </a:rPr>
              <a:t>Consumer Awareness </a:t>
            </a:r>
            <a:r>
              <a:rPr lang="en-US" sz="1800" dirty="0">
                <a:latin typeface="Times New Roman" panose="02020603050405020304" pitchFamily="18" charset="0"/>
                <a:cs typeface="Times New Roman" panose="02020603050405020304" pitchFamily="18" charset="0"/>
              </a:rPr>
              <a:t>Gap: Most people lack knowledge about where and how to dispose of electronic devices safely and responsibly. </a:t>
            </a:r>
          </a:p>
          <a:p>
            <a:pPr marL="0" lvl="0" indent="0" algn="just">
              <a:spcBef>
                <a:spcPts val="0"/>
              </a:spcBef>
              <a:spcAft>
                <a:spcPts val="1200"/>
              </a:spcAft>
              <a:buSzPts val="2800"/>
              <a:buNone/>
            </a:pPr>
            <a:r>
              <a:rPr lang="en-US" sz="1800" b="1" dirty="0">
                <a:solidFill>
                  <a:srgbClr val="FF0000"/>
                </a:solidFill>
                <a:latin typeface="Times New Roman" panose="02020603050405020304" pitchFamily="18" charset="0"/>
                <a:cs typeface="Times New Roman" panose="02020603050405020304" pitchFamily="18" charset="0"/>
              </a:rPr>
              <a:t>Fragmented Infrastructure</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No centralized platform connecting citizens with verified, certified recycling facilities in their local area. </a:t>
            </a:r>
          </a:p>
          <a:p>
            <a:pPr marL="0" lvl="0" indent="0" algn="just">
              <a:spcBef>
                <a:spcPts val="0"/>
              </a:spcBef>
              <a:spcAft>
                <a:spcPts val="1200"/>
              </a:spcAft>
              <a:buSzPts val="2800"/>
              <a:buNone/>
            </a:pPr>
            <a:r>
              <a:rPr lang="en-US" sz="1800" b="1" dirty="0">
                <a:solidFill>
                  <a:srgbClr val="FF0000"/>
                </a:solidFill>
                <a:latin typeface="Times New Roman" panose="02020603050405020304" pitchFamily="18" charset="0"/>
                <a:cs typeface="Times New Roman" panose="02020603050405020304" pitchFamily="18" charset="0"/>
              </a:rPr>
              <a:t>Compliance Challenges</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Organizations struggle to track proper disposal, obtain documentation for CSR requirements, and meet environmental regulations. </a:t>
            </a:r>
          </a:p>
          <a:p>
            <a:pPr marL="0" lvl="0" indent="0" algn="just">
              <a:spcBef>
                <a:spcPts val="0"/>
              </a:spcBef>
              <a:spcAft>
                <a:spcPts val="1200"/>
              </a:spcAft>
              <a:buSzPts val="2800"/>
              <a:buNone/>
            </a:pPr>
            <a:r>
              <a:rPr lang="en-US" sz="1800" b="1" dirty="0">
                <a:solidFill>
                  <a:srgbClr val="FF0000"/>
                </a:solidFill>
                <a:latin typeface="Times New Roman" panose="02020603050405020304" pitchFamily="18" charset="0"/>
                <a:cs typeface="Times New Roman" panose="02020603050405020304" pitchFamily="18" charset="0"/>
              </a:rPr>
              <a:t>Lack of Incentives:</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No motivation system exists to encourage people to consistently recycle their e-waste instead of discarding it improperly.</a:t>
            </a:r>
            <a:endParaRPr sz="1800" dirty="0">
              <a:latin typeface="Times New Roman" panose="02020603050405020304" pitchFamily="18" charset="0"/>
              <a:cs typeface="Times New Roman" panose="02020603050405020304" pitchFamily="18" charset="0"/>
            </a:endParaRPr>
          </a:p>
        </p:txBody>
      </p:sp>
      <p:sp>
        <p:nvSpPr>
          <p:cNvPr id="121" name="Google Shape;121;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5</a:t>
            </a:fld>
            <a:endParaRPr sz="1800" b="1">
              <a:solidFill>
                <a:srgbClr val="385623"/>
              </a:solidFill>
            </a:endParaRPr>
          </a:p>
        </p:txBody>
      </p:sp>
      <p:sp>
        <p:nvSpPr>
          <p:cNvPr id="122" name="Google Shape;122;p5"/>
          <p:cNvSpPr txBox="1">
            <a:spLocks noGrp="1"/>
          </p:cNvSpPr>
          <p:nvPr>
            <p:ph type="title"/>
          </p:nvPr>
        </p:nvSpPr>
        <p:spPr>
          <a:xfrm>
            <a:off x="640373" y="425245"/>
            <a:ext cx="10911253" cy="438439"/>
          </a:xfrm>
          <a:prstGeom prst="rect">
            <a:avLst/>
          </a:prstGeom>
          <a:noFill/>
          <a:ln>
            <a:noFill/>
          </a:ln>
        </p:spPr>
        <p:txBody>
          <a:bodyPr spcFirstLastPara="1" wrap="square" lIns="91425" tIns="45700" rIns="91425" bIns="45700" anchor="ctr" anchorCtr="0">
            <a:noAutofit/>
          </a:bodyPr>
          <a:lstStyle/>
          <a:p>
            <a:pPr lvl="0" algn="ctr">
              <a:buClr>
                <a:srgbClr val="2F5496"/>
              </a:buClr>
              <a:buSzPts val="2400"/>
            </a:pPr>
            <a:r>
              <a:rPr lang="en-US" sz="2400" b="1" dirty="0">
                <a:solidFill>
                  <a:srgbClr val="2F5496"/>
                </a:solidFill>
                <a:latin typeface="Cambria"/>
                <a:ea typeface="Cambria"/>
                <a:cs typeface="Cambria"/>
                <a:sym typeface="Cambria"/>
              </a:rPr>
              <a:t>PROBLEM STATEMENT</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838200" y="240435"/>
            <a:ext cx="10515600" cy="270394"/>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2F5496"/>
              </a:buClr>
              <a:buSzPct val="100000"/>
              <a:buFont typeface="Cambria"/>
              <a:buNone/>
            </a:pPr>
            <a:r>
              <a:rPr lang="en-US" sz="3600" b="1">
                <a:solidFill>
                  <a:srgbClr val="2F5496"/>
                </a:solidFill>
                <a:latin typeface="Cambria"/>
                <a:ea typeface="Cambria"/>
                <a:cs typeface="Cambria"/>
                <a:sym typeface="Cambria"/>
              </a:rPr>
              <a:t>LITERATURE SURVEY </a:t>
            </a:r>
            <a:endParaRPr sz="3600" b="1">
              <a:solidFill>
                <a:srgbClr val="2F5496"/>
              </a:solidFill>
              <a:latin typeface="Cambria"/>
              <a:ea typeface="Cambria"/>
              <a:cs typeface="Cambria"/>
              <a:sym typeface="Cambria"/>
            </a:endParaRPr>
          </a:p>
        </p:txBody>
      </p:sp>
      <p:sp>
        <p:nvSpPr>
          <p:cNvPr id="107" name="Google Shape;10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accent6"/>
                </a:solidFill>
              </a:rPr>
              <a:t>6</a:t>
            </a:fld>
            <a:endParaRPr sz="1800" b="1" dirty="0">
              <a:solidFill>
                <a:schemeClr val="accent6"/>
              </a:solidFill>
            </a:endParaRPr>
          </a:p>
        </p:txBody>
      </p:sp>
      <p:graphicFrame>
        <p:nvGraphicFramePr>
          <p:cNvPr id="108" name="Google Shape;108;p2"/>
          <p:cNvGraphicFramePr/>
          <p:nvPr>
            <p:extLst>
              <p:ext uri="{D42A27DB-BD31-4B8C-83A1-F6EECF244321}">
                <p14:modId xmlns:p14="http://schemas.microsoft.com/office/powerpoint/2010/main" val="1272920767"/>
              </p:ext>
            </p:extLst>
          </p:nvPr>
        </p:nvGraphicFramePr>
        <p:xfrm>
          <a:off x="838212" y="622616"/>
          <a:ext cx="10515575" cy="5612768"/>
        </p:xfrm>
        <a:graphic>
          <a:graphicData uri="http://schemas.openxmlformats.org/drawingml/2006/table">
            <a:tbl>
              <a:tblPr firstRow="1" bandRow="1">
                <a:noFill/>
                <a:tableStyleId>{53B643C5-FE54-463B-9127-A691888CBA63}</a:tableStyleId>
              </a:tblPr>
              <a:tblGrid>
                <a:gridCol w="765525">
                  <a:extLst>
                    <a:ext uri="{9D8B030D-6E8A-4147-A177-3AD203B41FA5}">
                      <a16:colId xmlns:a16="http://schemas.microsoft.com/office/drawing/2014/main" val="20000"/>
                    </a:ext>
                  </a:extLst>
                </a:gridCol>
                <a:gridCol w="3160775">
                  <a:extLst>
                    <a:ext uri="{9D8B030D-6E8A-4147-A177-3AD203B41FA5}">
                      <a16:colId xmlns:a16="http://schemas.microsoft.com/office/drawing/2014/main" val="20001"/>
                    </a:ext>
                  </a:extLst>
                </a:gridCol>
                <a:gridCol w="3308675">
                  <a:extLst>
                    <a:ext uri="{9D8B030D-6E8A-4147-A177-3AD203B41FA5}">
                      <a16:colId xmlns:a16="http://schemas.microsoft.com/office/drawing/2014/main" val="20002"/>
                    </a:ext>
                  </a:extLst>
                </a:gridCol>
                <a:gridCol w="3280600">
                  <a:extLst>
                    <a:ext uri="{9D8B030D-6E8A-4147-A177-3AD203B41FA5}">
                      <a16:colId xmlns:a16="http://schemas.microsoft.com/office/drawing/2014/main" val="20003"/>
                    </a:ext>
                  </a:extLst>
                </a:gridCol>
              </a:tblGrid>
              <a:tr h="1181931">
                <a:tc>
                  <a:txBody>
                    <a:bodyPr/>
                    <a:lstStyle/>
                    <a:p>
                      <a:pPr marL="0" marR="0" lvl="0" indent="0" algn="l" rtl="0">
                        <a:lnSpc>
                          <a:spcPct val="100000"/>
                        </a:lnSpc>
                        <a:spcBef>
                          <a:spcPts val="0"/>
                        </a:spcBef>
                        <a:spcAft>
                          <a:spcPts val="0"/>
                        </a:spcAft>
                        <a:buClr>
                          <a:srgbClr val="000000"/>
                        </a:buClr>
                        <a:buSzPts val="1800"/>
                        <a:buFont typeface="Arial"/>
                        <a:buNone/>
                      </a:pPr>
                      <a:r>
                        <a:rPr lang="en-US" sz="1400" b="1" u="none" strike="noStrike" cap="none" dirty="0" err="1">
                          <a:solidFill>
                            <a:schemeClr val="dk1"/>
                          </a:solidFill>
                        </a:rPr>
                        <a:t>Sl.No</a:t>
                      </a:r>
                      <a:r>
                        <a:rPr lang="en-US" sz="1400" b="1" u="none" strike="noStrike" cap="none" dirty="0">
                          <a:solidFill>
                            <a:schemeClr val="dk1"/>
                          </a:solidFill>
                        </a:rPr>
                        <a:t>.</a:t>
                      </a:r>
                      <a:endParaRPr sz="14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400" b="1" u="none" strike="noStrike" cap="none" dirty="0">
                          <a:solidFill>
                            <a:schemeClr val="dk1"/>
                          </a:solidFill>
                        </a:rPr>
                        <a:t>Journal Paper Title with Author </a:t>
                      </a:r>
                      <a:endParaRPr sz="14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1" u="none" strike="noStrike" cap="none" dirty="0">
                          <a:solidFill>
                            <a:schemeClr val="dk1"/>
                          </a:solidFill>
                        </a:rPr>
                        <a:t>Works carried out  </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400" b="1" u="none" strike="noStrike" cap="none" dirty="0">
                          <a:solidFill>
                            <a:schemeClr val="dk1"/>
                          </a:solidFill>
                        </a:rPr>
                        <a:t>( with details of Methods/ Materials/ Software/ Algorithms / fabrication / techniques/ components used ) </a:t>
                      </a:r>
                      <a:endParaRPr sz="14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1" u="none" strike="noStrike" cap="none" dirty="0">
                          <a:solidFill>
                            <a:schemeClr val="dk1"/>
                          </a:solidFill>
                        </a:rPr>
                        <a:t>Information gathered relevant to your project</a:t>
                      </a:r>
                      <a:endParaRPr sz="14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0"/>
                  </a:ext>
                </a:extLst>
              </a:tr>
              <a:tr h="1404139">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1</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1" i="0" u="none" strike="noStrike" cap="none" dirty="0">
                          <a:solidFill>
                            <a:schemeClr val="dk1"/>
                          </a:solidFill>
                          <a:effectLst/>
                          <a:latin typeface="Calibri"/>
                          <a:ea typeface="Calibri"/>
                          <a:cs typeface="Calibri"/>
                          <a:sym typeface="Arial"/>
                        </a:rPr>
                        <a:t>Kumar, A., et al.</a:t>
                      </a:r>
                      <a:br>
                        <a:rPr lang="en-US" sz="1800" dirty="0"/>
                      </a:br>
                      <a:r>
                        <a:rPr lang="en-US" sz="1400" b="0" i="0" u="none" strike="noStrike" cap="none" dirty="0">
                          <a:solidFill>
                            <a:schemeClr val="dk1"/>
                          </a:solidFill>
                          <a:effectLst/>
                          <a:latin typeface="Calibri"/>
                          <a:ea typeface="Calibri"/>
                          <a:cs typeface="Calibri"/>
                          <a:sym typeface="Arial"/>
                        </a:rPr>
                        <a:t>"Smart E-waste Management System using IoT and Cloud Computing."</a:t>
                      </a:r>
                      <a:br>
                        <a:rPr lang="en-US" sz="1800" dirty="0"/>
                      </a:br>
                      <a:r>
                        <a:rPr lang="en-US" sz="1400" b="0" i="1" u="none" strike="noStrike" cap="none" dirty="0">
                          <a:solidFill>
                            <a:schemeClr val="dk1"/>
                          </a:solidFill>
                          <a:effectLst/>
                          <a:latin typeface="Calibri"/>
                          <a:ea typeface="Calibri"/>
                          <a:cs typeface="Calibri"/>
                          <a:sym typeface="Arial"/>
                        </a:rPr>
                        <a:t>International Journal of Environmental Research and Public Health. 2021.</a:t>
                      </a:r>
                      <a:r>
                        <a:rPr lang="en-US" sz="1800" b="0" i="1" u="none" strike="noStrike" cap="none" dirty="0">
                          <a:solidFill>
                            <a:schemeClr val="dk1"/>
                          </a:solidFill>
                          <a:latin typeface="Calibri"/>
                          <a:ea typeface="Calibri"/>
                          <a:cs typeface="Calibri"/>
                          <a:sym typeface="Calibri"/>
                        </a:rPr>
                        <a:t>.</a:t>
                      </a:r>
                      <a:endParaRPr sz="1800" i="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The authors developed a location-based service using GPS and Google Maps API to identify nearest e-waste collection centers. Used MongoDB for facility data storage and RESTful APIs for real-time tracking.</a:t>
                      </a:r>
                      <a:endParaRPr sz="1800" i="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This research informs our project's facility locator feature by demonstrating how geolocation services and map APIs can efficiently connect users with disposal centers, providing insights into real-time tracking implementation.</a:t>
                      </a:r>
                      <a:endParaRPr sz="1800" i="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r h="1622559">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2</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1" i="0" u="none" strike="noStrike" cap="none" dirty="0">
                          <a:solidFill>
                            <a:schemeClr val="dk1"/>
                          </a:solidFill>
                          <a:effectLst/>
                          <a:latin typeface="Calibri"/>
                          <a:ea typeface="Calibri"/>
                          <a:cs typeface="Calibri"/>
                          <a:sym typeface="Arial"/>
                        </a:rPr>
                        <a:t>Lee, H., &amp; Park, S.</a:t>
                      </a:r>
                      <a:br>
                        <a:rPr lang="en-US" dirty="0"/>
                      </a:br>
                      <a:r>
                        <a:rPr lang="en-US" sz="1400" b="0" i="0" u="none" strike="noStrike" cap="none" dirty="0">
                          <a:solidFill>
                            <a:schemeClr val="dk1"/>
                          </a:solidFill>
                          <a:effectLst/>
                          <a:latin typeface="Calibri"/>
                          <a:ea typeface="Calibri"/>
                          <a:cs typeface="Calibri"/>
                          <a:sym typeface="Arial"/>
                        </a:rPr>
                        <a:t>"Hybrid Database Architecture for Scalable Environmental Applications."</a:t>
                      </a:r>
                      <a:br>
                        <a:rPr lang="en-US" dirty="0"/>
                      </a:br>
                      <a:r>
                        <a:rPr lang="en-US" sz="1400" b="0" i="1" u="none" strike="noStrike" cap="none" dirty="0">
                          <a:solidFill>
                            <a:schemeClr val="dk1"/>
                          </a:solidFill>
                          <a:effectLst/>
                          <a:latin typeface="Calibri"/>
                          <a:ea typeface="Calibri"/>
                          <a:cs typeface="Calibri"/>
                          <a:sym typeface="Arial"/>
                        </a:rPr>
                        <a:t>ACM Transactions on Database Systems. 2022.</a:t>
                      </a:r>
                      <a:endParaRPr sz="1800" i="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Developed facility management system for e-waste collection centers with capacity tracking, certification verification, and real-time data synchronization. Used GIS mapping to optimize facility locations and coverage areas. Implemented REST APIs for facility registration and status updates.</a:t>
                      </a:r>
                      <a:endParaRPr sz="1800" i="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This research informs our facility management features, showing how to maintain verified facility databases, track collection center capacities, and ensure proper certification. Provides insights into facility network optimization for maximum coverage and accessibility.</a:t>
                      </a:r>
                      <a:endParaRPr sz="1800" i="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2"/>
                  </a:ext>
                </a:extLst>
              </a:tr>
              <a:tr h="1404139">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3</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IN" sz="1400" b="1" i="0" u="none" strike="noStrike" cap="none" dirty="0">
                          <a:solidFill>
                            <a:schemeClr val="dk1"/>
                          </a:solidFill>
                          <a:effectLst/>
                          <a:latin typeface="Calibri"/>
                          <a:ea typeface="Calibri"/>
                          <a:cs typeface="Calibri"/>
                          <a:sym typeface="Arial"/>
                        </a:rPr>
                        <a:t>Patel, K., &amp; Desai, M.</a:t>
                      </a:r>
                      <a:br>
                        <a:rPr lang="en-IN" sz="1800" dirty="0"/>
                      </a:br>
                      <a:r>
                        <a:rPr lang="en-IN" sz="1400" b="0" i="0" u="none" strike="noStrike" cap="none" dirty="0">
                          <a:solidFill>
                            <a:schemeClr val="dk1"/>
                          </a:solidFill>
                          <a:effectLst/>
                          <a:latin typeface="Calibri"/>
                          <a:ea typeface="Calibri"/>
                          <a:cs typeface="Calibri"/>
                          <a:sym typeface="Arial"/>
                        </a:rPr>
                        <a:t>"Gamification Strategies to Promote Sustainable E-waste Disposal </a:t>
                      </a:r>
                      <a:r>
                        <a:rPr lang="en-IN" sz="1400" b="0" i="0" u="none" strike="noStrike" cap="none" dirty="0" err="1">
                          <a:solidFill>
                            <a:schemeClr val="dk1"/>
                          </a:solidFill>
                          <a:effectLst/>
                          <a:latin typeface="Calibri"/>
                          <a:ea typeface="Calibri"/>
                          <a:cs typeface="Calibri"/>
                          <a:sym typeface="Arial"/>
                        </a:rPr>
                        <a:t>Behavior</a:t>
                      </a:r>
                      <a:r>
                        <a:rPr lang="en-IN" sz="1400" b="0" i="0" u="none" strike="noStrike" cap="none" dirty="0">
                          <a:solidFill>
                            <a:schemeClr val="dk1"/>
                          </a:solidFill>
                          <a:effectLst/>
                          <a:latin typeface="Calibri"/>
                          <a:ea typeface="Calibri"/>
                          <a:cs typeface="Calibri"/>
                          <a:sym typeface="Arial"/>
                        </a:rPr>
                        <a:t>."</a:t>
                      </a:r>
                      <a:br>
                        <a:rPr lang="en-IN" sz="1800" dirty="0"/>
                      </a:br>
                      <a:r>
                        <a:rPr lang="en-IN" sz="1400" b="0" i="1" u="none" strike="noStrike" cap="none" dirty="0">
                          <a:solidFill>
                            <a:schemeClr val="dk1"/>
                          </a:solidFill>
                          <a:effectLst/>
                          <a:latin typeface="Calibri"/>
                          <a:ea typeface="Calibri"/>
                          <a:cs typeface="Calibri"/>
                          <a:sym typeface="Arial"/>
                        </a:rPr>
                        <a:t>Sustainability. 2021.</a:t>
                      </a:r>
                      <a:endParaRPr sz="1800" i="1" u="none" strike="noStrike" cap="none" dirty="0">
                        <a:solidFill>
                          <a:schemeClr val="dk1"/>
                        </a:solidFill>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Created gamification framework with point-based rewards, leaderboards, and achievement badges. Used behavioral psychology principles to increase participation by 67%.</a:t>
                      </a:r>
                      <a:endParaRPr sz="1800" i="1" u="none" strike="noStrike" cap="none" dirty="0">
                        <a:solidFill>
                          <a:schemeClr val="dk1"/>
                        </a:solidFill>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This study informs our rewards and incentive system, providing methodologies for user engagement through gamification, point systems, and social recognition to encourage recycling behavior.</a:t>
                      </a:r>
                      <a:endParaRPr sz="1800" i="1" u="none" strike="noStrike" cap="none" dirty="0">
                        <a:solidFill>
                          <a:schemeClr val="dk1"/>
                        </a:solidFill>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6238814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9"/>
          <p:cNvSpPr txBox="1">
            <a:spLocks noGrp="1"/>
          </p:cNvSpPr>
          <p:nvPr>
            <p:ph type="title"/>
          </p:nvPr>
        </p:nvSpPr>
        <p:spPr>
          <a:xfrm>
            <a:off x="838200" y="240435"/>
            <a:ext cx="10515600" cy="270394"/>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2F5496"/>
              </a:buClr>
              <a:buSzPct val="100000"/>
              <a:buFont typeface="Cambria"/>
              <a:buNone/>
            </a:pPr>
            <a:r>
              <a:rPr lang="en-US" sz="3600" b="1">
                <a:solidFill>
                  <a:srgbClr val="2F5496"/>
                </a:solidFill>
                <a:latin typeface="Cambria"/>
                <a:ea typeface="Cambria"/>
                <a:cs typeface="Cambria"/>
                <a:sym typeface="Cambria"/>
              </a:rPr>
              <a:t>LITERATURE SURVEY </a:t>
            </a:r>
            <a:endParaRPr sz="3600" b="1">
              <a:solidFill>
                <a:srgbClr val="2F5496"/>
              </a:solidFill>
              <a:latin typeface="Cambria"/>
              <a:ea typeface="Cambria"/>
              <a:cs typeface="Cambria"/>
              <a:sym typeface="Cambria"/>
            </a:endParaRPr>
          </a:p>
        </p:txBody>
      </p:sp>
      <p:sp>
        <p:nvSpPr>
          <p:cNvPr id="114" name="Google Shape;11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accent6"/>
                </a:solidFill>
              </a:rPr>
              <a:t>7</a:t>
            </a:fld>
            <a:endParaRPr sz="1800" b="1" dirty="0">
              <a:solidFill>
                <a:schemeClr val="accent6"/>
              </a:solidFill>
            </a:endParaRPr>
          </a:p>
        </p:txBody>
      </p:sp>
      <p:graphicFrame>
        <p:nvGraphicFramePr>
          <p:cNvPr id="115" name="Google Shape;115;p39"/>
          <p:cNvGraphicFramePr/>
          <p:nvPr>
            <p:extLst>
              <p:ext uri="{D42A27DB-BD31-4B8C-83A1-F6EECF244321}">
                <p14:modId xmlns:p14="http://schemas.microsoft.com/office/powerpoint/2010/main" val="165057354"/>
              </p:ext>
            </p:extLst>
          </p:nvPr>
        </p:nvGraphicFramePr>
        <p:xfrm>
          <a:off x="838200" y="647354"/>
          <a:ext cx="10515575" cy="5619890"/>
        </p:xfrm>
        <a:graphic>
          <a:graphicData uri="http://schemas.openxmlformats.org/drawingml/2006/table">
            <a:tbl>
              <a:tblPr firstRow="1" bandRow="1">
                <a:noFill/>
                <a:tableStyleId>{53B643C5-FE54-463B-9127-A691888CBA63}</a:tableStyleId>
              </a:tblPr>
              <a:tblGrid>
                <a:gridCol w="765525">
                  <a:extLst>
                    <a:ext uri="{9D8B030D-6E8A-4147-A177-3AD203B41FA5}">
                      <a16:colId xmlns:a16="http://schemas.microsoft.com/office/drawing/2014/main" val="20000"/>
                    </a:ext>
                  </a:extLst>
                </a:gridCol>
                <a:gridCol w="3160775">
                  <a:extLst>
                    <a:ext uri="{9D8B030D-6E8A-4147-A177-3AD203B41FA5}">
                      <a16:colId xmlns:a16="http://schemas.microsoft.com/office/drawing/2014/main" val="20001"/>
                    </a:ext>
                  </a:extLst>
                </a:gridCol>
                <a:gridCol w="3308675">
                  <a:extLst>
                    <a:ext uri="{9D8B030D-6E8A-4147-A177-3AD203B41FA5}">
                      <a16:colId xmlns:a16="http://schemas.microsoft.com/office/drawing/2014/main" val="20002"/>
                    </a:ext>
                  </a:extLst>
                </a:gridCol>
                <a:gridCol w="3280600">
                  <a:extLst>
                    <a:ext uri="{9D8B030D-6E8A-4147-A177-3AD203B41FA5}">
                      <a16:colId xmlns:a16="http://schemas.microsoft.com/office/drawing/2014/main" val="20003"/>
                    </a:ext>
                  </a:extLst>
                </a:gridCol>
              </a:tblGrid>
              <a:tr h="1154550">
                <a:tc>
                  <a:txBody>
                    <a:bodyPr/>
                    <a:lstStyle/>
                    <a:p>
                      <a:pPr marL="0" marR="0" lvl="0" indent="0" algn="l" rtl="0">
                        <a:lnSpc>
                          <a:spcPct val="100000"/>
                        </a:lnSpc>
                        <a:spcBef>
                          <a:spcPts val="0"/>
                        </a:spcBef>
                        <a:spcAft>
                          <a:spcPts val="0"/>
                        </a:spcAft>
                        <a:buClr>
                          <a:srgbClr val="000000"/>
                        </a:buClr>
                        <a:buSzPts val="1800"/>
                        <a:buFont typeface="Arial"/>
                        <a:buNone/>
                      </a:pPr>
                      <a:r>
                        <a:rPr lang="en-US" sz="1400" b="1" u="none" strike="noStrike" cap="none" dirty="0" err="1">
                          <a:solidFill>
                            <a:schemeClr val="dk1"/>
                          </a:solidFill>
                        </a:rPr>
                        <a:t>Sl.No</a:t>
                      </a:r>
                      <a:r>
                        <a:rPr lang="en-US" sz="1400" b="1" u="none" strike="noStrike" cap="none" dirty="0">
                          <a:solidFill>
                            <a:schemeClr val="dk1"/>
                          </a:solidFill>
                        </a:rPr>
                        <a:t>.</a:t>
                      </a:r>
                      <a:endParaRPr sz="14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400" b="1" u="none" strike="noStrike" cap="none" dirty="0">
                          <a:solidFill>
                            <a:schemeClr val="dk1"/>
                          </a:solidFill>
                        </a:rPr>
                        <a:t>Journal Paper Title with Author </a:t>
                      </a:r>
                      <a:endParaRPr sz="14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1" u="none" strike="noStrike" cap="none" dirty="0">
                          <a:solidFill>
                            <a:schemeClr val="dk1"/>
                          </a:solidFill>
                        </a:rPr>
                        <a:t>Works carried out  </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400" b="1" u="none" strike="noStrike" cap="none" dirty="0">
                          <a:solidFill>
                            <a:schemeClr val="dk1"/>
                          </a:solidFill>
                        </a:rPr>
                        <a:t>( with details of Methods/ Materials/ Software/ Algorithms / fabrication / techniques/ components used ) </a:t>
                      </a:r>
                      <a:endParaRPr sz="14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1" u="none" strike="noStrike" cap="none" dirty="0">
                          <a:solidFill>
                            <a:schemeClr val="dk1"/>
                          </a:solidFill>
                        </a:rPr>
                        <a:t>Information gathered relevant to your project</a:t>
                      </a:r>
                      <a:endParaRPr sz="14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0"/>
                  </a:ext>
                </a:extLst>
              </a:tr>
              <a:tr h="6250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4</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algn="l" fontAlgn="t">
                        <a:buNone/>
                      </a:pPr>
                      <a:br>
                        <a:rPr lang="en-US" b="1" dirty="0">
                          <a:solidFill>
                            <a:srgbClr val="2980B9"/>
                          </a:solidFill>
                          <a:effectLst/>
                        </a:rPr>
                      </a:br>
                      <a:r>
                        <a:rPr lang="en-IN" sz="1400" b="1" i="0" u="none" strike="noStrike" cap="none" dirty="0">
                          <a:solidFill>
                            <a:schemeClr val="dk1"/>
                          </a:solidFill>
                          <a:effectLst/>
                          <a:latin typeface="Calibri"/>
                          <a:ea typeface="Calibri"/>
                          <a:cs typeface="Calibri"/>
                          <a:sym typeface="Arial"/>
                        </a:rPr>
                        <a:t>Silva, R., &amp; Costa, M.</a:t>
                      </a:r>
                      <a:br>
                        <a:rPr lang="en-IN" dirty="0"/>
                      </a:br>
                      <a:r>
                        <a:rPr lang="en-IN" sz="1400" b="0" i="0" u="none" strike="noStrike" cap="none" dirty="0">
                          <a:solidFill>
                            <a:schemeClr val="dk1"/>
                          </a:solidFill>
                          <a:effectLst/>
                          <a:latin typeface="Calibri"/>
                          <a:ea typeface="Calibri"/>
                          <a:cs typeface="Calibri"/>
                          <a:sym typeface="Arial"/>
                        </a:rPr>
                        <a:t>"Circular Economy Ecosystem for Electronic Waste: Stakeholder Integration and Value Chain Analysis."</a:t>
                      </a:r>
                      <a:br>
                        <a:rPr lang="en-IN" dirty="0"/>
                      </a:br>
                      <a:r>
                        <a:rPr lang="en-IN" sz="1400" b="0" i="1" u="none" strike="noStrike" cap="none" dirty="0">
                          <a:solidFill>
                            <a:schemeClr val="dk1"/>
                          </a:solidFill>
                          <a:effectLst/>
                          <a:latin typeface="Calibri"/>
                          <a:ea typeface="Calibri"/>
                          <a:cs typeface="Calibri"/>
                          <a:sym typeface="Arial"/>
                        </a:rPr>
                        <a:t>Resources, Conservation &amp; Recycling. 2023.</a:t>
                      </a:r>
                      <a:endParaRPr lang="en-US" dirty="0">
                        <a:effectLst/>
                      </a:endParaRPr>
                    </a:p>
                  </a:txBody>
                  <a:tcPr marL="114300" marR="114300" marT="114300" marB="11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Analyzed e-waste circular economy ecosystem connecting consumers, NGOs, recyclers, and manufacturers. Developed multi-stakeholder platform with role-based workflows and value chain tracking. Demonstrated 35% increase in material recovery through ecosystem integration.</a:t>
                      </a:r>
                      <a:endParaRPr sz="1800" i="1" u="none" strike="noStrike" cap="none" dirty="0">
                        <a:solidFill>
                          <a:schemeClr val="dk1"/>
                        </a:solidFill>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This study provides framework for our multi-stakeholder ecosystem approach, validating our role-based system (Citizens, NGOs, Admins). Shows how connecting different actors in the e-waste value chain creates sustainable circular economy and improves overall recycling rates.</a:t>
                      </a:r>
                      <a:endParaRPr sz="1800" i="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r h="1712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5</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IN" sz="1400" b="1" i="0" u="none" strike="noStrike" cap="none" dirty="0">
                          <a:solidFill>
                            <a:schemeClr val="dk1"/>
                          </a:solidFill>
                          <a:effectLst/>
                          <a:latin typeface="Calibri"/>
                          <a:ea typeface="Calibri"/>
                          <a:cs typeface="Calibri"/>
                          <a:sym typeface="Arial"/>
                        </a:rPr>
                        <a:t>Chen, W., &amp; Liu, Y.</a:t>
                      </a:r>
                      <a:br>
                        <a:rPr lang="en-IN" sz="1800" dirty="0"/>
                      </a:br>
                      <a:r>
                        <a:rPr lang="en-IN" sz="1400" b="0" i="0" u="none" strike="noStrike" cap="none" dirty="0">
                          <a:solidFill>
                            <a:schemeClr val="dk1"/>
                          </a:solidFill>
                          <a:effectLst/>
                          <a:latin typeface="Calibri"/>
                          <a:ea typeface="Calibri"/>
                          <a:cs typeface="Calibri"/>
                          <a:sym typeface="Arial"/>
                        </a:rPr>
                        <a:t>"Design and Implementation of Multi-platform Waste Management Application."</a:t>
                      </a:r>
                      <a:br>
                        <a:rPr lang="en-IN" sz="1800" dirty="0"/>
                      </a:br>
                      <a:r>
                        <a:rPr lang="en-IN" sz="1400" b="0" i="1" u="none" strike="noStrike" cap="none" dirty="0">
                          <a:solidFill>
                            <a:schemeClr val="dk1"/>
                          </a:solidFill>
                          <a:effectLst/>
                          <a:latin typeface="Calibri"/>
                          <a:ea typeface="Calibri"/>
                          <a:cs typeface="Calibri"/>
                          <a:sym typeface="Arial"/>
                        </a:rPr>
                        <a:t>International Journal of Computer Applications. 2022.</a:t>
                      </a:r>
                      <a:endParaRPr sz="1800" i="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Developed React-based web portal and React Native mobile apps with Spring Boot backend. Implemented offline mode with local storage and push notification system.</a:t>
                      </a:r>
                      <a:endParaRPr sz="1800" i="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This research validates our choice of Next.js for web and mobile app development, showing how responsive design and offline capabilities enhance user experience.</a:t>
                      </a:r>
                      <a:endParaRPr sz="1800" i="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2"/>
                  </a:ext>
                </a:extLst>
              </a:tr>
              <a:tr h="1712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6</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IN" sz="1400" b="1" i="0" u="none" strike="noStrike" cap="none" dirty="0">
                          <a:solidFill>
                            <a:schemeClr val="dk1"/>
                          </a:solidFill>
                          <a:effectLst/>
                          <a:latin typeface="Calibri"/>
                          <a:ea typeface="Calibri"/>
                          <a:cs typeface="Calibri"/>
                          <a:sym typeface="Arial"/>
                        </a:rPr>
                        <a:t>Anderson, T., et al.</a:t>
                      </a:r>
                      <a:br>
                        <a:rPr lang="en-IN" sz="1800" dirty="0"/>
                      </a:br>
                      <a:r>
                        <a:rPr lang="en-IN" sz="1400" b="0" i="0" u="none" strike="noStrike" cap="none" dirty="0">
                          <a:solidFill>
                            <a:schemeClr val="dk1"/>
                          </a:solidFill>
                          <a:effectLst/>
                          <a:latin typeface="Calibri"/>
                          <a:ea typeface="Calibri"/>
                          <a:cs typeface="Calibri"/>
                          <a:sym typeface="Arial"/>
                        </a:rPr>
                        <a:t>"Visualizing Environmental Impact: Dashboard Design for Sustainable </a:t>
                      </a:r>
                      <a:r>
                        <a:rPr lang="en-IN" sz="1400" b="0" i="0" u="none" strike="noStrike" cap="none" dirty="0" err="1">
                          <a:solidFill>
                            <a:schemeClr val="dk1"/>
                          </a:solidFill>
                          <a:effectLst/>
                          <a:latin typeface="Calibri"/>
                          <a:ea typeface="Calibri"/>
                          <a:cs typeface="Calibri"/>
                          <a:sym typeface="Arial"/>
                        </a:rPr>
                        <a:t>Behavior</a:t>
                      </a:r>
                      <a:r>
                        <a:rPr lang="en-IN" sz="1400" b="0" i="0" u="none" strike="noStrike" cap="none" dirty="0">
                          <a:solidFill>
                            <a:schemeClr val="dk1"/>
                          </a:solidFill>
                          <a:effectLst/>
                          <a:latin typeface="Calibri"/>
                          <a:ea typeface="Calibri"/>
                          <a:cs typeface="Calibri"/>
                          <a:sym typeface="Arial"/>
                        </a:rPr>
                        <a:t> Tracking."</a:t>
                      </a:r>
                      <a:br>
                        <a:rPr lang="en-IN" sz="1800" dirty="0"/>
                      </a:br>
                      <a:r>
                        <a:rPr lang="en-IN" sz="1400" b="0" i="1" u="none" strike="noStrike" cap="none" dirty="0">
                          <a:solidFill>
                            <a:schemeClr val="dk1"/>
                          </a:solidFill>
                          <a:effectLst/>
                          <a:latin typeface="Calibri"/>
                          <a:ea typeface="Calibri"/>
                          <a:cs typeface="Calibri"/>
                          <a:sym typeface="Arial"/>
                        </a:rPr>
                        <a:t>Journal of Environmental Psychology. 2021.</a:t>
                      </a:r>
                      <a:endParaRPr sz="1800" i="1" u="none" strike="noStrike" cap="none" dirty="0">
                        <a:solidFill>
                          <a:schemeClr val="dk1"/>
                        </a:solidFill>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Created environmental impact dashboard using D3.js and Chart.js to display CO2 savings, waste diverted, and resource recovery metrics. Users showed 45% increase in recycling frequency.</a:t>
                      </a:r>
                      <a:endParaRPr sz="1800" i="1" u="none" strike="noStrike" cap="none" dirty="0">
                        <a:solidFill>
                          <a:schemeClr val="dk1"/>
                        </a:solidFill>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b="0" i="0" u="none" strike="noStrike" cap="none" dirty="0">
                          <a:solidFill>
                            <a:schemeClr val="dk1"/>
                          </a:solidFill>
                          <a:effectLst/>
                          <a:latin typeface="Calibri"/>
                          <a:ea typeface="Calibri"/>
                          <a:cs typeface="Calibri"/>
                          <a:sym typeface="Arial"/>
                        </a:rPr>
                        <a:t>This study informs our impact dashboard feature, providing methods to visualize carbon footprint reduction, material recovery, and environmental metrics to motivate continued user participation.</a:t>
                      </a:r>
                      <a:endParaRPr sz="1800" i="1" u="none" strike="noStrike" cap="none" dirty="0">
                        <a:solidFill>
                          <a:schemeClr val="dk1"/>
                        </a:solidFill>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427050844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12C09632-39EB-A125-B62B-DCE60BA16449}"/>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80863C8B-A089-6143-CB1D-2A686B34275E}"/>
              </a:ext>
            </a:extLst>
          </p:cNvPr>
          <p:cNvSpPr txBox="1">
            <a:spLocks noGrp="1"/>
          </p:cNvSpPr>
          <p:nvPr>
            <p:ph type="body" idx="1"/>
          </p:nvPr>
        </p:nvSpPr>
        <p:spPr>
          <a:xfrm>
            <a:off x="838200" y="863193"/>
            <a:ext cx="10674926" cy="5357497"/>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lvl="0" indent="0">
              <a:spcBef>
                <a:spcPts val="1200"/>
              </a:spcBef>
              <a:spcAft>
                <a:spcPts val="1200"/>
              </a:spcAft>
              <a:buSzPts val="2800"/>
              <a:buNone/>
            </a:pPr>
            <a:r>
              <a:rPr lang="en-US" sz="2000" b="1" dirty="0">
                <a:solidFill>
                  <a:srgbClr val="FF0000"/>
                </a:solidFill>
                <a:latin typeface="Times New Roman" panose="02020603050405020304" pitchFamily="18" charset="0"/>
                <a:ea typeface="Cambria"/>
                <a:cs typeface="Times New Roman" panose="02020603050405020304" pitchFamily="18" charset="0"/>
                <a:sym typeface="Cambria"/>
              </a:rPr>
              <a:t>1. Smart Facility Locator &amp; Booking System: </a:t>
            </a:r>
            <a:r>
              <a:rPr lang="en-US" sz="2000" dirty="0">
                <a:latin typeface="Times New Roman" panose="02020603050405020304" pitchFamily="18" charset="0"/>
                <a:ea typeface="Cambria"/>
                <a:cs typeface="Times New Roman" panose="02020603050405020304" pitchFamily="18" charset="0"/>
                <a:sym typeface="Cambria"/>
              </a:rPr>
              <a:t>Uses GPS and </a:t>
            </a:r>
            <a:r>
              <a:rPr lang="en-US" sz="2000" dirty="0" err="1">
                <a:latin typeface="Times New Roman" panose="02020603050405020304" pitchFamily="18" charset="0"/>
                <a:ea typeface="Cambria"/>
                <a:cs typeface="Times New Roman" panose="02020603050405020304" pitchFamily="18" charset="0"/>
                <a:sym typeface="Cambria"/>
              </a:rPr>
              <a:t>MapBox</a:t>
            </a:r>
            <a:r>
              <a:rPr lang="en-US" sz="2000" dirty="0">
                <a:latin typeface="Times New Roman" panose="02020603050405020304" pitchFamily="18" charset="0"/>
                <a:ea typeface="Cambria"/>
                <a:cs typeface="Times New Roman" panose="02020603050405020304" pitchFamily="18" charset="0"/>
                <a:sym typeface="Cambria"/>
              </a:rPr>
              <a:t>/Leaflet APIs to identify nearest certified e-waste collection centers with real-time availability, and enables doorstep pickup scheduling with QR verification. </a:t>
            </a:r>
          </a:p>
          <a:p>
            <a:pPr marL="0" lvl="0" indent="0">
              <a:spcBef>
                <a:spcPts val="0"/>
              </a:spcBef>
              <a:spcAft>
                <a:spcPts val="1200"/>
              </a:spcAft>
              <a:buSzPts val="2800"/>
              <a:buNone/>
            </a:pPr>
            <a:r>
              <a:rPr lang="en-US" sz="2000" b="1" dirty="0">
                <a:solidFill>
                  <a:srgbClr val="FF0000"/>
                </a:solidFill>
                <a:latin typeface="Times New Roman" panose="02020603050405020304" pitchFamily="18" charset="0"/>
                <a:ea typeface="Cambria"/>
                <a:cs typeface="Times New Roman" panose="02020603050405020304" pitchFamily="18" charset="0"/>
                <a:sym typeface="Cambria"/>
              </a:rPr>
              <a:t>2. AI/ML Integration: </a:t>
            </a:r>
            <a:r>
              <a:rPr lang="en-US" sz="2000" dirty="0">
                <a:latin typeface="Times New Roman" panose="02020603050405020304" pitchFamily="18" charset="0"/>
                <a:ea typeface="Cambria"/>
                <a:cs typeface="Times New Roman" panose="02020603050405020304" pitchFamily="18" charset="0"/>
                <a:sym typeface="Cambria"/>
              </a:rPr>
              <a:t>Implements machine learning for automated device recognition from photos and NLP-powered chatbot providing 24/7 support, personalized recommendations, and guided disposal assistance. </a:t>
            </a:r>
          </a:p>
          <a:p>
            <a:pPr marL="0" lvl="0" indent="0">
              <a:spcBef>
                <a:spcPts val="0"/>
              </a:spcBef>
              <a:spcAft>
                <a:spcPts val="1200"/>
              </a:spcAft>
              <a:buSzPts val="2800"/>
              <a:buNone/>
            </a:pPr>
            <a:r>
              <a:rPr lang="en-US" sz="2000" b="1" dirty="0">
                <a:solidFill>
                  <a:srgbClr val="FF0000"/>
                </a:solidFill>
                <a:latin typeface="Times New Roman" panose="02020603050405020304" pitchFamily="18" charset="0"/>
                <a:ea typeface="Cambria"/>
                <a:cs typeface="Times New Roman" panose="02020603050405020304" pitchFamily="18" charset="0"/>
                <a:sym typeface="Cambria"/>
              </a:rPr>
              <a:t>3. Gamification &amp; Impact Dashboard: </a:t>
            </a:r>
            <a:r>
              <a:rPr lang="en-US" sz="2000" dirty="0">
                <a:latin typeface="Times New Roman" panose="02020603050405020304" pitchFamily="18" charset="0"/>
                <a:ea typeface="Cambria"/>
                <a:cs typeface="Times New Roman" panose="02020603050405020304" pitchFamily="18" charset="0"/>
                <a:sym typeface="Cambria"/>
              </a:rPr>
              <a:t>Provides point-based rewards system with leaderboards, and visualizes environmental impact including CO2 savings, materials recovered, and carbon footprint reduction. </a:t>
            </a:r>
          </a:p>
          <a:p>
            <a:pPr marL="0" lvl="0" indent="0">
              <a:spcBef>
                <a:spcPts val="0"/>
              </a:spcBef>
              <a:spcAft>
                <a:spcPts val="1200"/>
              </a:spcAft>
              <a:buSzPts val="2800"/>
              <a:buNone/>
            </a:pPr>
            <a:r>
              <a:rPr lang="en-US" sz="2000" b="1" dirty="0">
                <a:solidFill>
                  <a:srgbClr val="FF0000"/>
                </a:solidFill>
                <a:latin typeface="Times New Roman" panose="02020603050405020304" pitchFamily="18" charset="0"/>
                <a:ea typeface="Cambria"/>
                <a:cs typeface="Times New Roman" panose="02020603050405020304" pitchFamily="18" charset="0"/>
                <a:sym typeface="Cambria"/>
              </a:rPr>
              <a:t>4. Multi-Stakeholder Role System: </a:t>
            </a:r>
            <a:r>
              <a:rPr lang="en-US" sz="2000" dirty="0">
                <a:latin typeface="Times New Roman" panose="02020603050405020304" pitchFamily="18" charset="0"/>
                <a:ea typeface="Cambria"/>
                <a:cs typeface="Times New Roman" panose="02020603050405020304" pitchFamily="18" charset="0"/>
                <a:sym typeface="Cambria"/>
              </a:rPr>
              <a:t>Implements secure role-based platform for Citizens, NGOs, and Administrators with customized workflows, corporate compliance tracking, and automated CSR reporting. </a:t>
            </a:r>
          </a:p>
          <a:p>
            <a:pPr marL="0" lvl="0" indent="0">
              <a:spcBef>
                <a:spcPts val="0"/>
              </a:spcBef>
              <a:spcAft>
                <a:spcPts val="1200"/>
              </a:spcAft>
              <a:buSzPts val="2800"/>
              <a:buNone/>
            </a:pPr>
            <a:r>
              <a:rPr lang="en-US" sz="2000" b="1" dirty="0">
                <a:solidFill>
                  <a:srgbClr val="FF0000"/>
                </a:solidFill>
                <a:latin typeface="Times New Roman" panose="02020603050405020304" pitchFamily="18" charset="0"/>
                <a:ea typeface="Cambria"/>
                <a:cs typeface="Times New Roman" panose="02020603050405020304" pitchFamily="18" charset="0"/>
                <a:sym typeface="Cambria"/>
              </a:rPr>
              <a:t>5. Circular Economy Ecosystem: </a:t>
            </a:r>
            <a:r>
              <a:rPr lang="en-US" sz="2000" dirty="0">
                <a:latin typeface="Times New Roman" panose="02020603050405020304" pitchFamily="18" charset="0"/>
                <a:ea typeface="Cambria"/>
                <a:cs typeface="Times New Roman" panose="02020603050405020304" pitchFamily="18" charset="0"/>
                <a:sym typeface="Cambria"/>
              </a:rPr>
              <a:t>Connects all stakeholders in sustainable value chain with educational resources, certification programs, and analytics to maximize material recovery and promote environmental awareness.</a:t>
            </a:r>
            <a:endParaRPr dirty="0">
              <a:latin typeface="Times New Roman" panose="02020603050405020304" pitchFamily="18" charset="0"/>
              <a:cs typeface="Times New Roman" panose="02020603050405020304" pitchFamily="18" charset="0"/>
            </a:endParaRPr>
          </a:p>
        </p:txBody>
      </p:sp>
      <p:sp>
        <p:nvSpPr>
          <p:cNvPr id="121" name="Google Shape;121;p5">
            <a:extLst>
              <a:ext uri="{FF2B5EF4-FFF2-40B4-BE49-F238E27FC236}">
                <a16:creationId xmlns:a16="http://schemas.microsoft.com/office/drawing/2014/main" id="{AC46C4B6-10EC-DAFD-7F5B-8B652B4E54B0}"/>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8</a:t>
            </a:fld>
            <a:endParaRPr sz="1800" b="1">
              <a:solidFill>
                <a:srgbClr val="385623"/>
              </a:solidFill>
            </a:endParaRPr>
          </a:p>
        </p:txBody>
      </p:sp>
      <p:sp>
        <p:nvSpPr>
          <p:cNvPr id="122" name="Google Shape;122;p5">
            <a:extLst>
              <a:ext uri="{FF2B5EF4-FFF2-40B4-BE49-F238E27FC236}">
                <a16:creationId xmlns:a16="http://schemas.microsoft.com/office/drawing/2014/main" id="{FF9C4635-C630-17CD-972F-D9B469992D9B}"/>
              </a:ext>
            </a:extLst>
          </p:cNvPr>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SCOPE OF THE PROJECT</a:t>
            </a:r>
            <a:endParaRPr sz="2400" b="1" dirty="0">
              <a:solidFill>
                <a:srgbClr val="2F5496"/>
              </a:solidFill>
              <a:latin typeface="Cambria"/>
              <a:ea typeface="Cambria"/>
              <a:cs typeface="Cambria"/>
              <a:sym typeface="Cambria"/>
            </a:endParaRPr>
          </a:p>
        </p:txBody>
      </p:sp>
    </p:spTree>
    <p:extLst>
      <p:ext uri="{BB962C8B-B14F-4D97-AF65-F5344CB8AC3E}">
        <p14:creationId xmlns:p14="http://schemas.microsoft.com/office/powerpoint/2010/main" val="35269567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6"/>
          <p:cNvSpPr txBox="1">
            <a:spLocks noGrp="1"/>
          </p:cNvSpPr>
          <p:nvPr>
            <p:ph type="body" idx="1"/>
          </p:nvPr>
        </p:nvSpPr>
        <p:spPr>
          <a:xfrm>
            <a:off x="597877" y="775855"/>
            <a:ext cx="10946423"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algn="just"/>
            <a:r>
              <a:rPr lang="en-US" sz="2000" dirty="0">
                <a:latin typeface="Times New Roman" panose="02020603050405020304" pitchFamily="18" charset="0"/>
                <a:ea typeface="Cambria"/>
                <a:cs typeface="Times New Roman" panose="02020603050405020304" pitchFamily="18" charset="0"/>
                <a:sym typeface="Cambria"/>
              </a:rPr>
              <a:t>With the exponential growth of electronic waste (53.6 million tons in 2019, projected to reach 74 million tons by 2030), there is an urgent need for technology-driven solutions to address the e-waste crisis. Current disposal methods are fragmented, with only 17.4% of e-waste being properly recycled. Citizens lack awareness about certified disposal facilities, and there is no centralized platform connecting users with verified recycling centers in their area. </a:t>
            </a:r>
          </a:p>
          <a:p>
            <a:pPr algn="just"/>
            <a:r>
              <a:rPr lang="en-US" sz="2000" dirty="0">
                <a:latin typeface="Times New Roman" panose="02020603050405020304" pitchFamily="18" charset="0"/>
                <a:ea typeface="Cambria"/>
                <a:cs typeface="Times New Roman" panose="02020603050405020304" pitchFamily="18" charset="0"/>
                <a:sym typeface="Cambria"/>
              </a:rPr>
              <a:t>This study addresses these critical limitations by developing a comprehensive e-waste management platform that integrates smart facility location services, real-time booking systems, and AI/ML technologies. By combining GPS-based geolocation with </a:t>
            </a:r>
            <a:r>
              <a:rPr lang="en-US" sz="2000" dirty="0" err="1">
                <a:latin typeface="Times New Roman" panose="02020603050405020304" pitchFamily="18" charset="0"/>
                <a:ea typeface="Cambria"/>
                <a:cs typeface="Times New Roman" panose="02020603050405020304" pitchFamily="18" charset="0"/>
                <a:sym typeface="Cambria"/>
              </a:rPr>
              <a:t>MapBox</a:t>
            </a:r>
            <a:r>
              <a:rPr lang="en-US" sz="2000" dirty="0">
                <a:latin typeface="Times New Roman" panose="02020603050405020304" pitchFamily="18" charset="0"/>
                <a:ea typeface="Cambria"/>
                <a:cs typeface="Times New Roman" panose="02020603050405020304" pitchFamily="18" charset="0"/>
                <a:sym typeface="Cambria"/>
              </a:rPr>
              <a:t>/Leaflet APIs, users can instantly locate nearest certified collection centers. The platform incorporates gamification and rewards to encourage participation, while impact dashboards visualize environmental contributions (CO2 savings, materials recovered) providing data-driven motivation for sustainable behavior.</a:t>
            </a:r>
          </a:p>
          <a:p>
            <a:pPr algn="just"/>
            <a:r>
              <a:rPr lang="en-US" sz="2000" dirty="0">
                <a:latin typeface="Times New Roman" panose="02020603050405020304" pitchFamily="18" charset="0"/>
                <a:ea typeface="Cambria"/>
                <a:cs typeface="Times New Roman" panose="02020603050405020304" pitchFamily="18" charset="0"/>
                <a:sym typeface="Cambria"/>
              </a:rPr>
              <a:t>The system creates a multi-stakeholder circular economy ecosystem connecting citizens, NGOs, and businesses through role-based workflows. This addresses the gap identified in literature regarding stakeholder integration and value chain optimization. By implementing secure authentication, facility network management, and corporate compliance tracking, the platform ensures proper documentation for CSR requirements and regulatory compliance, making e-waste disposal more accessible, transparent, and effective for users of all types</a:t>
            </a:r>
            <a:endParaRPr sz="2000" dirty="0">
              <a:latin typeface="Times New Roman" panose="02020603050405020304" pitchFamily="18" charset="0"/>
              <a:ea typeface="Cambria"/>
              <a:cs typeface="Times New Roman" panose="02020603050405020304" pitchFamily="18" charset="0"/>
              <a:sym typeface="Cambria"/>
            </a:endParaRPr>
          </a:p>
        </p:txBody>
      </p:sp>
      <p:sp>
        <p:nvSpPr>
          <p:cNvPr id="128" name="Google Shape;12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9</a:t>
            </a:fld>
            <a:endParaRPr sz="1800" b="1">
              <a:solidFill>
                <a:srgbClr val="385623"/>
              </a:solidFill>
            </a:endParaRPr>
          </a:p>
        </p:txBody>
      </p:sp>
      <p:sp>
        <p:nvSpPr>
          <p:cNvPr id="129" name="Google Shape;129;p6"/>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NEED FOR THE CURRENT STUDY </a:t>
            </a:r>
            <a:endParaRPr sz="2400" b="1">
              <a:solidFill>
                <a:srgbClr val="2F5496"/>
              </a:solidFill>
              <a:latin typeface="Cambria"/>
              <a:ea typeface="Cambria"/>
              <a:cs typeface="Cambria"/>
              <a:sym typeface="Cambria"/>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9"/>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PROPOSED METHODOLOGY ( Flow Chart) </a:t>
            </a:r>
            <a:endParaRPr sz="2400" b="1">
              <a:solidFill>
                <a:srgbClr val="2F5496"/>
              </a:solidFill>
              <a:latin typeface="Cambria"/>
              <a:ea typeface="Cambria"/>
              <a:cs typeface="Cambria"/>
              <a:sym typeface="Cambria"/>
            </a:endParaRPr>
          </a:p>
        </p:txBody>
      </p:sp>
      <p:sp>
        <p:nvSpPr>
          <p:cNvPr id="143" name="Google Shape;143;p9"/>
          <p:cNvSpPr txBox="1">
            <a:spLocks noGrp="1"/>
          </p:cNvSpPr>
          <p:nvPr>
            <p:ph type="body" idx="1"/>
          </p:nvPr>
        </p:nvSpPr>
        <p:spPr>
          <a:xfrm>
            <a:off x="579481" y="775855"/>
            <a:ext cx="11167042"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1143000" lvl="2" indent="-101600" algn="l" rtl="0">
              <a:lnSpc>
                <a:spcPct val="90000"/>
              </a:lnSpc>
              <a:spcBef>
                <a:spcPts val="500"/>
              </a:spcBef>
              <a:spcAft>
                <a:spcPts val="0"/>
              </a:spcAft>
              <a:buClr>
                <a:schemeClr val="dk1"/>
              </a:buClr>
              <a:buSzPts val="2000"/>
              <a:buNone/>
            </a:pPr>
            <a:r>
              <a:rPr lang="en-US">
                <a:solidFill>
                  <a:schemeClr val="lt1"/>
                </a:solidFill>
              </a:rPr>
              <a:t>.</a:t>
            </a:r>
            <a:endParaRPr>
              <a:solidFill>
                <a:schemeClr val="lt1"/>
              </a:solidFill>
            </a:endParaRPr>
          </a:p>
        </p:txBody>
      </p:sp>
      <p:sp>
        <p:nvSpPr>
          <p:cNvPr id="144" name="Google Shape;14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10</a:t>
            </a:fld>
            <a:endParaRPr sz="1800" b="1">
              <a:solidFill>
                <a:srgbClr val="385623"/>
              </a:solidFill>
            </a:endParaRPr>
          </a:p>
        </p:txBody>
      </p:sp>
      <p:pic>
        <p:nvPicPr>
          <p:cNvPr id="5" name="Picture 4">
            <a:extLst>
              <a:ext uri="{FF2B5EF4-FFF2-40B4-BE49-F238E27FC236}">
                <a16:creationId xmlns:a16="http://schemas.microsoft.com/office/drawing/2014/main" id="{3D1AF9D2-85D7-F220-008D-D0F475023EA9}"/>
              </a:ext>
            </a:extLst>
          </p:cNvPr>
          <p:cNvPicPr>
            <a:picLocks noChangeAspect="1"/>
          </p:cNvPicPr>
          <p:nvPr/>
        </p:nvPicPr>
        <p:blipFill>
          <a:blip r:embed="rId3"/>
          <a:srcRect b="14801"/>
          <a:stretch>
            <a:fillRect/>
          </a:stretch>
        </p:blipFill>
        <p:spPr>
          <a:xfrm>
            <a:off x="720435" y="814532"/>
            <a:ext cx="10892083" cy="54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PROPOSED METHODOLOGY ( Overall Gantt Chart) </a:t>
            </a:r>
            <a:endParaRPr sz="2400" b="1" dirty="0">
              <a:solidFill>
                <a:srgbClr val="2F5496"/>
              </a:solidFill>
              <a:latin typeface="Cambria"/>
              <a:ea typeface="Cambria"/>
              <a:cs typeface="Cambria"/>
              <a:sym typeface="Cambria"/>
            </a:endParaRPr>
          </a:p>
        </p:txBody>
      </p:sp>
      <p:sp>
        <p:nvSpPr>
          <p:cNvPr id="151" name="Google Shape;15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11</a:t>
            </a:fld>
            <a:endParaRPr sz="1800" b="1">
              <a:solidFill>
                <a:srgbClr val="385623"/>
              </a:solidFill>
            </a:endParaRPr>
          </a:p>
        </p:txBody>
      </p:sp>
      <p:sp>
        <p:nvSpPr>
          <p:cNvPr id="152" name="Google Shape;152;p10"/>
          <p:cNvSpPr txBox="1"/>
          <p:nvPr/>
        </p:nvSpPr>
        <p:spPr>
          <a:xfrm>
            <a:off x="9520347" y="5737685"/>
            <a:ext cx="1515274" cy="257393"/>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2F5496"/>
              </a:buClr>
              <a:buSzPts val="2400"/>
              <a:buFont typeface="Cambria"/>
              <a:buNone/>
            </a:pPr>
            <a:endParaRPr sz="1400" b="0" i="0" u="none" strike="noStrike" cap="none">
              <a:solidFill>
                <a:srgbClr val="000000"/>
              </a:solidFill>
              <a:latin typeface="Arial"/>
              <a:ea typeface="Arial"/>
              <a:cs typeface="Arial"/>
              <a:sym typeface="Arial"/>
            </a:endParaRPr>
          </a:p>
        </p:txBody>
      </p:sp>
      <p:sp>
        <p:nvSpPr>
          <p:cNvPr id="153" name="Google Shape;153;p10"/>
          <p:cNvSpPr/>
          <p:nvPr/>
        </p:nvSpPr>
        <p:spPr>
          <a:xfrm>
            <a:off x="7803350" y="3750625"/>
            <a:ext cx="989700" cy="365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54" name="Google Shape;154;p10"/>
          <p:cNvSpPr/>
          <p:nvPr/>
        </p:nvSpPr>
        <p:spPr>
          <a:xfrm>
            <a:off x="8893650" y="4247150"/>
            <a:ext cx="989700" cy="365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 name="Google Shape;143;p9">
            <a:extLst>
              <a:ext uri="{FF2B5EF4-FFF2-40B4-BE49-F238E27FC236}">
                <a16:creationId xmlns:a16="http://schemas.microsoft.com/office/drawing/2014/main" id="{50DDCFAB-93D7-F701-731B-414D5527BD62}"/>
              </a:ext>
            </a:extLst>
          </p:cNvPr>
          <p:cNvSpPr txBox="1">
            <a:spLocks noGrp="1"/>
          </p:cNvSpPr>
          <p:nvPr>
            <p:ph type="body" idx="1"/>
          </p:nvPr>
        </p:nvSpPr>
        <p:spPr>
          <a:xfrm>
            <a:off x="579481" y="775855"/>
            <a:ext cx="11167042"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1143000" lvl="2" indent="-101600" algn="l" rtl="0">
              <a:lnSpc>
                <a:spcPct val="90000"/>
              </a:lnSpc>
              <a:spcBef>
                <a:spcPts val="500"/>
              </a:spcBef>
              <a:spcAft>
                <a:spcPts val="0"/>
              </a:spcAft>
              <a:buClr>
                <a:schemeClr val="dk1"/>
              </a:buClr>
              <a:buSzPts val="2000"/>
              <a:buNone/>
            </a:pPr>
            <a:r>
              <a:rPr lang="en-US">
                <a:solidFill>
                  <a:schemeClr val="lt1"/>
                </a:solidFill>
              </a:rPr>
              <a:t>.</a:t>
            </a:r>
            <a:endParaRPr>
              <a:solidFill>
                <a:schemeClr val="lt1"/>
              </a:solidFill>
            </a:endParaRPr>
          </a:p>
        </p:txBody>
      </p:sp>
      <p:pic>
        <p:nvPicPr>
          <p:cNvPr id="6" name="Picture 5">
            <a:extLst>
              <a:ext uri="{FF2B5EF4-FFF2-40B4-BE49-F238E27FC236}">
                <a16:creationId xmlns:a16="http://schemas.microsoft.com/office/drawing/2014/main" id="{814E8F84-D6B8-EAFB-584F-F36500A0F452}"/>
              </a:ext>
            </a:extLst>
          </p:cNvPr>
          <p:cNvPicPr>
            <a:picLocks noChangeAspect="1"/>
          </p:cNvPicPr>
          <p:nvPr/>
        </p:nvPicPr>
        <p:blipFill>
          <a:blip r:embed="rId3"/>
          <a:stretch>
            <a:fillRect/>
          </a:stretch>
        </p:blipFill>
        <p:spPr>
          <a:xfrm>
            <a:off x="641838" y="814532"/>
            <a:ext cx="11104685" cy="54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1"/>
          <p:cNvSpPr txBox="1">
            <a:spLocks noGrp="1"/>
          </p:cNvSpPr>
          <p:nvPr>
            <p:ph type="body" idx="1"/>
          </p:nvPr>
        </p:nvSpPr>
        <p:spPr>
          <a:xfrm>
            <a:off x="678874" y="775855"/>
            <a:ext cx="1090938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914400" lvl="2" indent="0" algn="l" rtl="0">
              <a:lnSpc>
                <a:spcPct val="90000"/>
              </a:lnSpc>
              <a:spcBef>
                <a:spcPts val="500"/>
              </a:spcBef>
              <a:spcAft>
                <a:spcPts val="0"/>
              </a:spcAft>
              <a:buClr>
                <a:schemeClr val="dk1"/>
              </a:buClr>
              <a:buSzPts val="2000"/>
              <a:buNone/>
            </a:pPr>
            <a:endParaRPr/>
          </a:p>
          <a:p>
            <a:pPr marL="1143000" lvl="2" indent="-101600" algn="l" rtl="0">
              <a:lnSpc>
                <a:spcPct val="90000"/>
              </a:lnSpc>
              <a:spcBef>
                <a:spcPts val="500"/>
              </a:spcBef>
              <a:spcAft>
                <a:spcPts val="0"/>
              </a:spcAft>
              <a:buClr>
                <a:schemeClr val="dk1"/>
              </a:buClr>
              <a:buSzPts val="2000"/>
              <a:buNone/>
            </a:pPr>
            <a:endParaRPr/>
          </a:p>
          <a:p>
            <a:pPr marL="228600" lvl="0" indent="-50800" algn="l" rtl="0">
              <a:lnSpc>
                <a:spcPct val="90000"/>
              </a:lnSpc>
              <a:spcBef>
                <a:spcPts val="1000"/>
              </a:spcBef>
              <a:spcAft>
                <a:spcPts val="0"/>
              </a:spcAft>
              <a:buClr>
                <a:schemeClr val="dk1"/>
              </a:buClr>
              <a:buSzPts val="2800"/>
              <a:buNone/>
            </a:pPr>
            <a:endParaRPr/>
          </a:p>
        </p:txBody>
      </p:sp>
      <p:sp>
        <p:nvSpPr>
          <p:cNvPr id="160" name="Google Shape;160;p11"/>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a:solidFill>
                  <a:srgbClr val="2F5496"/>
                </a:solidFill>
                <a:latin typeface="Cambria"/>
                <a:ea typeface="Cambria"/>
                <a:cs typeface="Cambria"/>
                <a:sym typeface="Cambria"/>
              </a:rPr>
              <a:t>CHOICE  OF  COMPONENTS  /  MODULES  / METHODS/TECHNIQUES </a:t>
            </a:r>
            <a:br>
              <a:rPr lang="en-US" sz="2400" b="1">
                <a:solidFill>
                  <a:srgbClr val="2F5496"/>
                </a:solidFill>
                <a:latin typeface="Cambria"/>
                <a:ea typeface="Cambria"/>
                <a:cs typeface="Cambria"/>
                <a:sym typeface="Cambria"/>
              </a:rPr>
            </a:br>
            <a:r>
              <a:rPr lang="en-US" sz="2400" b="1">
                <a:solidFill>
                  <a:srgbClr val="2F5496"/>
                </a:solidFill>
                <a:latin typeface="Cambria"/>
                <a:ea typeface="Cambria"/>
                <a:cs typeface="Cambria"/>
                <a:sym typeface="Cambria"/>
              </a:rPr>
              <a:t>EQUIPMENT  USED FOR  PROJECT DEVELOPMENT </a:t>
            </a:r>
            <a:endParaRPr sz="2400" b="1">
              <a:solidFill>
                <a:srgbClr val="2F5496"/>
              </a:solidFill>
              <a:latin typeface="Cambria"/>
              <a:ea typeface="Cambria"/>
              <a:cs typeface="Cambria"/>
              <a:sym typeface="Cambria"/>
            </a:endParaRPr>
          </a:p>
        </p:txBody>
      </p:sp>
      <p:sp>
        <p:nvSpPr>
          <p:cNvPr id="162" name="Google Shape;16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12</a:t>
            </a:fld>
            <a:endParaRPr sz="1800" b="1">
              <a:solidFill>
                <a:srgbClr val="385623"/>
              </a:solidFill>
            </a:endParaRPr>
          </a:p>
        </p:txBody>
      </p:sp>
      <p:pic>
        <p:nvPicPr>
          <p:cNvPr id="5" name="Picture 4">
            <a:hlinkClick r:id="rId3" action="ppaction://hlinkfile"/>
            <a:extLst>
              <a:ext uri="{FF2B5EF4-FFF2-40B4-BE49-F238E27FC236}">
                <a16:creationId xmlns:a16="http://schemas.microsoft.com/office/drawing/2014/main" id="{FD95E76B-1430-0842-C1DF-0179DED177D2}"/>
              </a:ext>
            </a:extLst>
          </p:cNvPr>
          <p:cNvPicPr>
            <a:picLocks noChangeAspect="1"/>
          </p:cNvPicPr>
          <p:nvPr/>
        </p:nvPicPr>
        <p:blipFill>
          <a:blip r:embed="rId4"/>
          <a:srcRect t="16460"/>
          <a:stretch>
            <a:fillRect/>
          </a:stretch>
        </p:blipFill>
        <p:spPr>
          <a:xfrm>
            <a:off x="838200" y="814531"/>
            <a:ext cx="10674926" cy="526761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3"/>
          <p:cNvSpPr txBox="1">
            <a:spLocks noGrp="1"/>
          </p:cNvSpPr>
          <p:nvPr>
            <p:ph type="body" idx="1"/>
          </p:nvPr>
        </p:nvSpPr>
        <p:spPr>
          <a:xfrm>
            <a:off x="838199" y="775855"/>
            <a:ext cx="10674900" cy="54447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fontScale="25000" lnSpcReduction="20000"/>
          </a:bodyPr>
          <a:lstStyle/>
          <a:p>
            <a:pPr marL="0" lvl="0" indent="0">
              <a:lnSpc>
                <a:spcPct val="100000"/>
              </a:lnSpc>
              <a:spcBef>
                <a:spcPts val="1200"/>
              </a:spcBef>
              <a:spcAft>
                <a:spcPts val="1200"/>
              </a:spcAft>
              <a:buSzPts val="2800"/>
              <a:buNone/>
            </a:pPr>
            <a:r>
              <a:rPr lang="en-US" sz="5600" b="1" dirty="0">
                <a:solidFill>
                  <a:srgbClr val="C00000"/>
                </a:solidFill>
                <a:latin typeface="Times New Roman" panose="02020603050405020304" pitchFamily="18" charset="0"/>
                <a:ea typeface="Cambria"/>
                <a:cs typeface="Times New Roman" panose="02020603050405020304" pitchFamily="18" charset="0"/>
                <a:sym typeface="Cambria"/>
              </a:rPr>
              <a:t>Front-End Development: </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HTML, CSS, and JavaScript are used to design and structure the user interface. React and Next.js frameworks provide dynamic, responsive components for seamless user experience. Tailwind CSS enables rapid, utility-first styling for modern aesthetics.</a:t>
            </a:r>
          </a:p>
          <a:p>
            <a:pPr marL="0" lvl="0" indent="0">
              <a:lnSpc>
                <a:spcPct val="100000"/>
              </a:lnSpc>
              <a:spcBef>
                <a:spcPts val="0"/>
              </a:spcBef>
              <a:spcAft>
                <a:spcPts val="1200"/>
              </a:spcAft>
              <a:buSzPts val="2800"/>
              <a:buNone/>
            </a:pPr>
            <a:r>
              <a:rPr lang="en-US" sz="5600" b="1" dirty="0">
                <a:solidFill>
                  <a:srgbClr val="C00000"/>
                </a:solidFill>
                <a:latin typeface="Times New Roman" panose="02020603050405020304" pitchFamily="18" charset="0"/>
                <a:ea typeface="Cambria"/>
                <a:cs typeface="Times New Roman" panose="02020603050405020304" pitchFamily="18" charset="0"/>
                <a:sym typeface="Cambria"/>
              </a:rPr>
              <a:t>Back-End Development: </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Java with Spring Boot framework is implemented for handling server-side logic, RESTful API development, and robust business layer operations. PostgreSQL manages relational data for users, facilities, and bookings, while MongoDB handles unstructured data for AI model outputs and analytics. </a:t>
            </a:r>
          </a:p>
          <a:p>
            <a:pPr marL="0" lvl="0" indent="0">
              <a:lnSpc>
                <a:spcPct val="100000"/>
              </a:lnSpc>
              <a:spcBef>
                <a:spcPts val="0"/>
              </a:spcBef>
              <a:spcAft>
                <a:spcPts val="1200"/>
              </a:spcAft>
              <a:buSzPts val="2800"/>
              <a:buNone/>
            </a:pPr>
            <a:r>
              <a:rPr lang="en-US" sz="5600" b="1" dirty="0">
                <a:solidFill>
                  <a:srgbClr val="C00000"/>
                </a:solidFill>
                <a:latin typeface="Times New Roman" panose="02020603050405020304" pitchFamily="18" charset="0"/>
                <a:ea typeface="Cambria"/>
                <a:cs typeface="Times New Roman" panose="02020603050405020304" pitchFamily="18" charset="0"/>
                <a:sym typeface="Cambria"/>
              </a:rPr>
              <a:t>Deep Learning: </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Utilizes TensorFlow and </a:t>
            </a:r>
            <a:r>
              <a:rPr lang="en-US" sz="5600" dirty="0" err="1">
                <a:solidFill>
                  <a:schemeClr val="tx1"/>
                </a:solidFill>
                <a:latin typeface="Times New Roman" panose="02020603050405020304" pitchFamily="18" charset="0"/>
                <a:ea typeface="Cambria"/>
                <a:cs typeface="Times New Roman" panose="02020603050405020304" pitchFamily="18" charset="0"/>
                <a:sym typeface="Cambria"/>
              </a:rPr>
              <a:t>PyTorch</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 for object detection algorithms to identify and classify e-waste devices through image recognition. Convolutional Neural Networks (CNN) are employed for visual pattern detection in device categorization. </a:t>
            </a:r>
          </a:p>
          <a:p>
            <a:pPr marL="0" lvl="0" indent="0">
              <a:lnSpc>
                <a:spcPct val="100000"/>
              </a:lnSpc>
              <a:spcBef>
                <a:spcPts val="0"/>
              </a:spcBef>
              <a:spcAft>
                <a:spcPts val="1200"/>
              </a:spcAft>
              <a:buSzPts val="2800"/>
              <a:buNone/>
            </a:pPr>
            <a:r>
              <a:rPr lang="en-US" sz="5600" b="1" dirty="0">
                <a:solidFill>
                  <a:srgbClr val="C00000"/>
                </a:solidFill>
                <a:latin typeface="Times New Roman" panose="02020603050405020304" pitchFamily="18" charset="0"/>
                <a:ea typeface="Cambria"/>
                <a:cs typeface="Times New Roman" panose="02020603050405020304" pitchFamily="18" charset="0"/>
                <a:sym typeface="Cambria"/>
              </a:rPr>
              <a:t>AI &amp; Text Detection: </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Employs Natural Language Processing (NLP) for ML-powered chatbot support and device information extraction. OpenCV is used for real-time QR code scanning and device recognition through camera integration. </a:t>
            </a:r>
          </a:p>
          <a:p>
            <a:pPr marL="0" lvl="0" indent="0">
              <a:lnSpc>
                <a:spcPct val="100000"/>
              </a:lnSpc>
              <a:spcBef>
                <a:spcPts val="0"/>
              </a:spcBef>
              <a:spcAft>
                <a:spcPts val="1200"/>
              </a:spcAft>
              <a:buSzPts val="2800"/>
              <a:buNone/>
            </a:pPr>
            <a:r>
              <a:rPr lang="en-US" sz="5600" b="1" dirty="0">
                <a:solidFill>
                  <a:srgbClr val="C00000"/>
                </a:solidFill>
                <a:latin typeface="Times New Roman" panose="02020603050405020304" pitchFamily="18" charset="0"/>
                <a:ea typeface="Cambria"/>
                <a:cs typeface="Times New Roman" panose="02020603050405020304" pitchFamily="18" charset="0"/>
                <a:sym typeface="Cambria"/>
              </a:rPr>
              <a:t>Mapping &amp; Location Services: </a:t>
            </a:r>
            <a:r>
              <a:rPr lang="en-US" sz="5600" dirty="0" err="1">
                <a:solidFill>
                  <a:schemeClr val="tx1"/>
                </a:solidFill>
                <a:latin typeface="Times New Roman" panose="02020603050405020304" pitchFamily="18" charset="0"/>
                <a:ea typeface="Cambria"/>
                <a:cs typeface="Times New Roman" panose="02020603050405020304" pitchFamily="18" charset="0"/>
                <a:sym typeface="Cambria"/>
              </a:rPr>
              <a:t>MapBox</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 API provides interactive mapping for e-waste facility visualization and real-time location tracking. Google Maps integration enables geolocation, route optimization, and distance calculation for pickup services. </a:t>
            </a:r>
          </a:p>
          <a:p>
            <a:pPr marL="0" lvl="0" indent="0">
              <a:lnSpc>
                <a:spcPct val="100000"/>
              </a:lnSpc>
              <a:spcBef>
                <a:spcPts val="0"/>
              </a:spcBef>
              <a:spcAft>
                <a:spcPts val="1200"/>
              </a:spcAft>
              <a:buSzPts val="2800"/>
              <a:buNone/>
            </a:pPr>
            <a:r>
              <a:rPr lang="en-US" sz="5600" b="1" dirty="0">
                <a:solidFill>
                  <a:srgbClr val="C00000"/>
                </a:solidFill>
                <a:latin typeface="Times New Roman" panose="02020603050405020304" pitchFamily="18" charset="0"/>
                <a:ea typeface="Cambria"/>
                <a:cs typeface="Times New Roman" panose="02020603050405020304" pitchFamily="18" charset="0"/>
                <a:sym typeface="Cambria"/>
              </a:rPr>
              <a:t>Authentication &amp; Security: </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Auth0 handles secure user authentication with JWT token-based authorization. Role-based access control (RBAC) ensures proper separation of Citizen, NGO, and Admin functionalities. </a:t>
            </a:r>
          </a:p>
          <a:p>
            <a:pPr marL="0" lvl="0" indent="0">
              <a:lnSpc>
                <a:spcPct val="100000"/>
              </a:lnSpc>
              <a:spcBef>
                <a:spcPts val="0"/>
              </a:spcBef>
              <a:spcAft>
                <a:spcPts val="1200"/>
              </a:spcAft>
              <a:buSzPts val="2800"/>
              <a:buNone/>
            </a:pPr>
            <a:r>
              <a:rPr lang="en-US" sz="5600" b="1" dirty="0">
                <a:solidFill>
                  <a:srgbClr val="C00000"/>
                </a:solidFill>
                <a:latin typeface="Times New Roman" panose="02020603050405020304" pitchFamily="18" charset="0"/>
                <a:ea typeface="Cambria"/>
                <a:cs typeface="Times New Roman" panose="02020603050405020304" pitchFamily="18" charset="0"/>
                <a:sym typeface="Cambria"/>
              </a:rPr>
              <a:t>Testing: </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Comprehensive testing suite includes unit tests for backend services, integration tests for API endpoints, and end-to-end tests for user workflows. Automated testing validates system reliability and performance. </a:t>
            </a:r>
          </a:p>
          <a:p>
            <a:pPr marL="0" lvl="0" indent="0">
              <a:lnSpc>
                <a:spcPct val="100000"/>
              </a:lnSpc>
              <a:spcBef>
                <a:spcPts val="0"/>
              </a:spcBef>
              <a:spcAft>
                <a:spcPts val="1200"/>
              </a:spcAft>
              <a:buSzPts val="2800"/>
              <a:buNone/>
            </a:pPr>
            <a:r>
              <a:rPr lang="en-US" sz="5600" b="1" dirty="0">
                <a:solidFill>
                  <a:srgbClr val="C00000"/>
                </a:solidFill>
                <a:latin typeface="Times New Roman" panose="02020603050405020304" pitchFamily="18" charset="0"/>
                <a:ea typeface="Cambria"/>
                <a:cs typeface="Times New Roman" panose="02020603050405020304" pitchFamily="18" charset="0"/>
                <a:sym typeface="Cambria"/>
              </a:rPr>
              <a:t>DevOps: </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Docker ensures smooth containerization and deployment across environments. Git and GitHub Actions provide version control and CI/CD pipelines. </a:t>
            </a:r>
            <a:r>
              <a:rPr lang="en-US" sz="5600" dirty="0" err="1">
                <a:solidFill>
                  <a:schemeClr val="tx1"/>
                </a:solidFill>
                <a:latin typeface="Times New Roman" panose="02020603050405020304" pitchFamily="18" charset="0"/>
                <a:ea typeface="Cambria"/>
                <a:cs typeface="Times New Roman" panose="02020603050405020304" pitchFamily="18" charset="0"/>
                <a:sym typeface="Cambria"/>
              </a:rPr>
              <a:t>Vercel</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 hosts the frontend application, while Railway manages backend infrastructure deployment. </a:t>
            </a:r>
          </a:p>
          <a:p>
            <a:pPr marL="0" lvl="0" indent="0">
              <a:lnSpc>
                <a:spcPct val="100000"/>
              </a:lnSpc>
              <a:spcBef>
                <a:spcPts val="0"/>
              </a:spcBef>
              <a:spcAft>
                <a:spcPts val="1200"/>
              </a:spcAft>
              <a:buSzPts val="2800"/>
              <a:buNone/>
            </a:pPr>
            <a:r>
              <a:rPr lang="en-US" sz="5600" b="1" dirty="0">
                <a:solidFill>
                  <a:srgbClr val="C00000"/>
                </a:solidFill>
                <a:latin typeface="Times New Roman" panose="02020603050405020304" pitchFamily="18" charset="0"/>
                <a:ea typeface="Cambria"/>
                <a:cs typeface="Times New Roman" panose="02020603050405020304" pitchFamily="18" charset="0"/>
                <a:sym typeface="Cambria"/>
              </a:rPr>
              <a:t>Gamification &amp; Analytics: </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Real-time impact dashboards visualize user contributions, CO2 savings, and e-waste statistics. Points system, leaderboards, and digital certificates drive user engagement through reward mechanisms. </a:t>
            </a:r>
          </a:p>
          <a:p>
            <a:pPr marL="0" lvl="0" indent="0">
              <a:lnSpc>
                <a:spcPct val="100000"/>
              </a:lnSpc>
              <a:spcBef>
                <a:spcPts val="0"/>
              </a:spcBef>
              <a:spcAft>
                <a:spcPts val="1200"/>
              </a:spcAft>
              <a:buSzPts val="2800"/>
              <a:buNone/>
            </a:pPr>
            <a:r>
              <a:rPr lang="en-US" sz="5600" b="1" dirty="0">
                <a:solidFill>
                  <a:srgbClr val="C00000"/>
                </a:solidFill>
                <a:latin typeface="Times New Roman" panose="02020603050405020304" pitchFamily="18" charset="0"/>
                <a:ea typeface="Cambria"/>
                <a:cs typeface="Times New Roman" panose="02020603050405020304" pitchFamily="18" charset="0"/>
                <a:sym typeface="Cambria"/>
              </a:rPr>
              <a:t>Data Processing: </a:t>
            </a:r>
            <a:r>
              <a:rPr lang="en-US" sz="5600" dirty="0">
                <a:solidFill>
                  <a:schemeClr val="tx1"/>
                </a:solidFill>
                <a:latin typeface="Times New Roman" panose="02020603050405020304" pitchFamily="18" charset="0"/>
                <a:ea typeface="Cambria"/>
                <a:cs typeface="Times New Roman" panose="02020603050405020304" pitchFamily="18" charset="0"/>
                <a:sym typeface="Cambria"/>
              </a:rPr>
              <a:t>Python scripts handle batch processing for analytics, report generation, and predictive modeling. Data pipelines aggregate facility performance metrics and environmental impact calculations.</a:t>
            </a:r>
            <a:endParaRPr sz="5600" dirty="0">
              <a:solidFill>
                <a:schemeClr val="tx1"/>
              </a:solidFill>
              <a:latin typeface="Times New Roman" panose="02020603050405020304" pitchFamily="18" charset="0"/>
              <a:cs typeface="Times New Roman" panose="02020603050405020304" pitchFamily="18" charset="0"/>
            </a:endParaRPr>
          </a:p>
          <a:p>
            <a:pPr marL="914400" lvl="2" indent="0" algn="l" rtl="0">
              <a:lnSpc>
                <a:spcPct val="90000"/>
              </a:lnSpc>
              <a:spcBef>
                <a:spcPts val="500"/>
              </a:spcBef>
              <a:spcAft>
                <a:spcPts val="0"/>
              </a:spcAft>
              <a:buClr>
                <a:schemeClr val="dk1"/>
              </a:buClr>
              <a:buSzPts val="2000"/>
              <a:buNone/>
            </a:pPr>
            <a:endParaRPr dirty="0"/>
          </a:p>
          <a:p>
            <a:pPr marL="1143000" lvl="2" indent="-101600" algn="l" rtl="0">
              <a:lnSpc>
                <a:spcPct val="90000"/>
              </a:lnSpc>
              <a:spcBef>
                <a:spcPts val="500"/>
              </a:spcBef>
              <a:spcAft>
                <a:spcPts val="0"/>
              </a:spcAft>
              <a:buClr>
                <a:schemeClr val="dk1"/>
              </a:buClr>
              <a:buSzPts val="2000"/>
              <a:buNone/>
            </a:pP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168" name="Google Shape;168;p13"/>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CHOICE  OF  COMPONENTS  /  MODULES  / METHODS/TECHNIQUES </a:t>
            </a:r>
            <a:br>
              <a:rPr lang="en-US" sz="2400" b="1" dirty="0">
                <a:solidFill>
                  <a:srgbClr val="2F5496"/>
                </a:solidFill>
                <a:latin typeface="Cambria"/>
                <a:ea typeface="Cambria"/>
                <a:cs typeface="Cambria"/>
                <a:sym typeface="Cambria"/>
              </a:rPr>
            </a:br>
            <a:r>
              <a:rPr lang="en-US" sz="2400" b="1" dirty="0">
                <a:solidFill>
                  <a:srgbClr val="2F5496"/>
                </a:solidFill>
                <a:latin typeface="Cambria"/>
                <a:ea typeface="Cambria"/>
                <a:cs typeface="Cambria"/>
                <a:sym typeface="Cambria"/>
              </a:rPr>
              <a:t>EQUIPMENT  USED FOR  PROJECT DEVELOPMENT </a:t>
            </a:r>
            <a:endParaRPr sz="2400" b="1" dirty="0">
              <a:solidFill>
                <a:srgbClr val="2F5496"/>
              </a:solidFill>
              <a:latin typeface="Cambria"/>
              <a:ea typeface="Cambria"/>
              <a:cs typeface="Cambria"/>
              <a:sym typeface="Cambria"/>
            </a:endParaRPr>
          </a:p>
        </p:txBody>
      </p:sp>
      <p:sp>
        <p:nvSpPr>
          <p:cNvPr id="169" name="Google Shape;16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13</a:t>
            </a:fld>
            <a:endParaRPr sz="1800" b="1">
              <a:solidFill>
                <a:srgbClr val="385623"/>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9"/>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fontScale="77500" lnSpcReduction="20000"/>
          </a:bodyPr>
          <a:lstStyle/>
          <a:p>
            <a:pPr marL="0" lvl="0" indent="0">
              <a:spcBef>
                <a:spcPts val="0"/>
              </a:spcBef>
              <a:buClr>
                <a:srgbClr val="C00000"/>
              </a:buClr>
              <a:buSzPts val="2800"/>
              <a:buNone/>
            </a:pPr>
            <a:r>
              <a:rPr lang="en-US" b="1" dirty="0">
                <a:solidFill>
                  <a:srgbClr val="C00000"/>
                </a:solidFill>
                <a:latin typeface="Times New Roman" panose="02020603050405020304" pitchFamily="18" charset="0"/>
                <a:cs typeface="Times New Roman" panose="02020603050405020304" pitchFamily="18" charset="0"/>
              </a:rPr>
              <a:t>Batch Member 1 : (7376222IT266 – SUMALESH K A</a:t>
            </a:r>
            <a:r>
              <a:rPr lang="en-US" b="1" dirty="0">
                <a:solidFill>
                  <a:srgbClr val="C00000"/>
                </a:solidFill>
                <a:latin typeface="Times New Roman" panose="02020603050405020304" pitchFamily="18" charset="0"/>
                <a:ea typeface="Cambria" panose="02040503050406030204"/>
                <a:cs typeface="Times New Roman" panose="02020603050405020304" pitchFamily="18" charset="0"/>
                <a:sym typeface="Cambria" panose="02040503050406030204"/>
              </a:rPr>
              <a:t>)</a:t>
            </a:r>
          </a:p>
          <a:p>
            <a:pPr marL="0" lvl="0" indent="0">
              <a:spcBef>
                <a:spcPts val="60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1. Database Design &amp; Setup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Design PostgreSQL schema (users, facilities, bookings)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Create MongoDB collections for AI outputs and analytics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2. Authentication APIs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Implement Auth0 backend configuration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Build login/signup endpoints with JWT token management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3. Citizen Service APIs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Develop facility search, booking creation, and QR generation APIs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Build certificate generation and points/rewards system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4. NGO &amp; Admin Service APIs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Create NGO registration, verification, and booking management endpoints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Build admin facility approval and user management APIs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5. Third-Party Integrations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Integrate </a:t>
            </a:r>
            <a:r>
              <a:rPr lang="en-IN" sz="1900" dirty="0" err="1">
                <a:solidFill>
                  <a:schemeClr val="tx1"/>
                </a:solidFill>
                <a:latin typeface="Times New Roman" panose="02020603050405020304" pitchFamily="18" charset="0"/>
                <a:cs typeface="Times New Roman" panose="02020603050405020304" pitchFamily="18" charset="0"/>
              </a:rPr>
              <a:t>MapBox</a:t>
            </a:r>
            <a:r>
              <a:rPr lang="en-IN" sz="1900" dirty="0">
                <a:solidFill>
                  <a:schemeClr val="tx1"/>
                </a:solidFill>
                <a:latin typeface="Times New Roman" panose="02020603050405020304" pitchFamily="18" charset="0"/>
                <a:cs typeface="Times New Roman" panose="02020603050405020304" pitchFamily="18" charset="0"/>
              </a:rPr>
              <a:t> API for geolocation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Set up email/SMS notifications (SendGrid, Twilio)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6. DevOps &amp; Deployment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Set up Docker containerization and CI/CD with GitHub Actions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Deploy frontend to </a:t>
            </a:r>
            <a:r>
              <a:rPr lang="en-IN" sz="1900" dirty="0" err="1">
                <a:solidFill>
                  <a:schemeClr val="tx1"/>
                </a:solidFill>
                <a:latin typeface="Times New Roman" panose="02020603050405020304" pitchFamily="18" charset="0"/>
                <a:cs typeface="Times New Roman" panose="02020603050405020304" pitchFamily="18" charset="0"/>
              </a:rPr>
              <a:t>Vercel</a:t>
            </a:r>
            <a:r>
              <a:rPr lang="en-IN" sz="1900" dirty="0">
                <a:solidFill>
                  <a:schemeClr val="tx1"/>
                </a:solidFill>
                <a:latin typeface="Times New Roman" panose="02020603050405020304" pitchFamily="18" charset="0"/>
                <a:cs typeface="Times New Roman" panose="02020603050405020304" pitchFamily="18" charset="0"/>
              </a:rPr>
              <a:t> and backend to Railway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7. Security &amp; Testing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Implement API rate limiting, validation, and security headers </a:t>
            </a:r>
          </a:p>
          <a:p>
            <a:pPr marL="0" lvl="0" indent="0">
              <a:spcBef>
                <a:spcPts val="0"/>
              </a:spcBef>
              <a:spcAft>
                <a:spcPts val="600"/>
              </a:spcAft>
              <a:buClr>
                <a:srgbClr val="C00000"/>
              </a:buClr>
              <a:buSzPts val="2800"/>
              <a:buNone/>
            </a:pPr>
            <a:r>
              <a:rPr lang="en-IN" sz="1900" dirty="0">
                <a:solidFill>
                  <a:schemeClr val="tx1"/>
                </a:solidFill>
                <a:latin typeface="Times New Roman" panose="02020603050405020304" pitchFamily="18" charset="0"/>
                <a:cs typeface="Times New Roman" panose="02020603050405020304" pitchFamily="18" charset="0"/>
              </a:rPr>
              <a:t>	• Conduct load testing and write comprehensive API tests</a:t>
            </a:r>
            <a:endParaRPr sz="1900" dirty="0">
              <a:solidFill>
                <a:schemeClr val="tx1"/>
              </a:solidFill>
              <a:latin typeface="Times New Roman" panose="02020603050405020304" pitchFamily="18" charset="0"/>
              <a:cs typeface="Times New Roman" panose="02020603050405020304" pitchFamily="18" charset="0"/>
            </a:endParaRPr>
          </a:p>
        </p:txBody>
      </p:sp>
      <p:sp>
        <p:nvSpPr>
          <p:cNvPr id="207" name="Google Shape;207;p19"/>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a:buNone/>
            </a:pPr>
            <a:r>
              <a:rPr lang="en-US" sz="2400" b="1">
                <a:solidFill>
                  <a:srgbClr val="0070C0"/>
                </a:solidFill>
                <a:latin typeface="Cambria"/>
                <a:ea typeface="Cambria"/>
                <a:cs typeface="Cambria"/>
                <a:sym typeface="Cambria"/>
              </a:rPr>
              <a:t>INDIVIDUAL CONTRIBUTIONS TO THE WORK </a:t>
            </a:r>
            <a:endParaRPr sz="2400" b="1">
              <a:solidFill>
                <a:srgbClr val="0070C0"/>
              </a:solidFill>
              <a:latin typeface="Cambria"/>
              <a:ea typeface="Cambria"/>
              <a:cs typeface="Cambria"/>
              <a:sym typeface="Cambria"/>
            </a:endParaRPr>
          </a:p>
        </p:txBody>
      </p:sp>
      <p:sp>
        <p:nvSpPr>
          <p:cNvPr id="208" name="Google Shape;20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14</a:t>
            </a:fld>
            <a:endParaRPr sz="1800" b="1">
              <a:solidFill>
                <a:srgbClr val="385623"/>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8"/>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fontScale="92500" lnSpcReduction="20000"/>
          </a:bodyPr>
          <a:lstStyle/>
          <a:p>
            <a:pPr marL="0" lvl="0" indent="0">
              <a:spcBef>
                <a:spcPts val="0"/>
              </a:spcBef>
              <a:buClr>
                <a:srgbClr val="C00000"/>
              </a:buClr>
              <a:buSzPts val="2800"/>
              <a:buNone/>
            </a:pPr>
            <a:r>
              <a:rPr lang="en-US" sz="2400" b="1" dirty="0">
                <a:solidFill>
                  <a:srgbClr val="C00000"/>
                </a:solidFill>
                <a:latin typeface="Times New Roman" panose="02020603050405020304" pitchFamily="18" charset="0"/>
                <a:cs typeface="Times New Roman" panose="02020603050405020304" pitchFamily="18" charset="0"/>
              </a:rPr>
              <a:t>Batch Member 2 : (7376222IT187 – MADHUMETHA M) </a:t>
            </a:r>
          </a:p>
          <a:p>
            <a:pPr marL="0" lvl="0" indent="0">
              <a:spcBef>
                <a:spcPts val="0"/>
              </a:spcBef>
              <a:buClr>
                <a:srgbClr val="C00000"/>
              </a:buClr>
              <a:buSzPts val="2800"/>
              <a:buNone/>
            </a:pPr>
            <a:endParaRPr lang="en-US" sz="1600" b="1" dirty="0">
              <a:solidFill>
                <a:srgbClr val="C00000"/>
              </a:solidFill>
              <a:latin typeface="Times New Roman" panose="02020603050405020304" pitchFamily="18" charset="0"/>
              <a:cs typeface="Times New Roman" panose="02020603050405020304" pitchFamily="18" charset="0"/>
            </a:endParaRPr>
          </a:p>
          <a:p>
            <a:pPr marL="0" lvl="0" indent="0">
              <a:spcBef>
                <a:spcPts val="0"/>
              </a:spcBef>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1. UI/UX Design</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Create wireframes and </a:t>
            </a:r>
            <a:r>
              <a:rPr lang="en-IN" sz="1600" dirty="0" err="1">
                <a:solidFill>
                  <a:schemeClr val="tx1"/>
                </a:solidFill>
                <a:latin typeface="Times New Roman" panose="02020603050405020304" pitchFamily="18" charset="0"/>
                <a:cs typeface="Times New Roman" panose="02020603050405020304" pitchFamily="18" charset="0"/>
              </a:rPr>
              <a:t>mockups</a:t>
            </a:r>
            <a:r>
              <a:rPr lang="en-IN" sz="1600" dirty="0">
                <a:solidFill>
                  <a:schemeClr val="tx1"/>
                </a:solidFill>
                <a:latin typeface="Times New Roman" panose="02020603050405020304" pitchFamily="18" charset="0"/>
                <a:cs typeface="Times New Roman" panose="02020603050405020304" pitchFamily="18" charset="0"/>
              </a:rPr>
              <a:t> for all dashboards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Develop design system (</a:t>
            </a:r>
            <a:r>
              <a:rPr lang="en-IN" sz="1600" dirty="0" err="1">
                <a:solidFill>
                  <a:schemeClr val="tx1"/>
                </a:solidFill>
                <a:latin typeface="Times New Roman" panose="02020603050405020304" pitchFamily="18" charset="0"/>
                <a:cs typeface="Times New Roman" panose="02020603050405020304" pitchFamily="18" charset="0"/>
              </a:rPr>
              <a:t>colors</a:t>
            </a:r>
            <a:r>
              <a:rPr lang="en-IN" sz="1600" dirty="0">
                <a:solidFill>
                  <a:schemeClr val="tx1"/>
                </a:solidFill>
                <a:latin typeface="Times New Roman" panose="02020603050405020304" pitchFamily="18" charset="0"/>
                <a:cs typeface="Times New Roman" panose="02020603050405020304" pitchFamily="18" charset="0"/>
              </a:rPr>
              <a:t>, typography, components)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2. User Authentication Interface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Implement Auth0 login/signup pages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Build multi-role registration forms (Citizen, NGO, Admin)</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3. Citizen Module Development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Build Citizen Dashboard with </a:t>
            </a:r>
            <a:r>
              <a:rPr lang="en-IN" sz="1600" dirty="0" err="1">
                <a:solidFill>
                  <a:schemeClr val="tx1"/>
                </a:solidFill>
                <a:latin typeface="Times New Roman" panose="02020603050405020304" pitchFamily="18" charset="0"/>
                <a:cs typeface="Times New Roman" panose="02020603050405020304" pitchFamily="18" charset="0"/>
              </a:rPr>
              <a:t>MapBox</a:t>
            </a:r>
            <a:r>
              <a:rPr lang="en-IN" sz="1600" dirty="0">
                <a:solidFill>
                  <a:schemeClr val="tx1"/>
                </a:solidFill>
                <a:latin typeface="Times New Roman" panose="02020603050405020304" pitchFamily="18" charset="0"/>
                <a:cs typeface="Times New Roman" panose="02020603050405020304" pitchFamily="18" charset="0"/>
              </a:rPr>
              <a:t> facility locator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Create AI Device Recognition camera interface and ML Chatbot UI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4. Booking &amp; Gamification Features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Develop Book Pickup form with QR code generation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Implement Impact Dashboard, points system, and leaderboards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5. NGO Module Development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Build multi-step NGO registration and verification interface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Create Booking Management and QR scanner components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6. Admin Module Development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Build Admin Dashboard with facility verification interface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Develop User Management and Platform Analytics visualization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7. Responsive Design &amp; Testing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Ensure mobile responsiveness for all pages </a:t>
            </a:r>
          </a:p>
          <a:p>
            <a:pPr marL="0" lvl="0" indent="0">
              <a:spcBef>
                <a:spcPts val="0"/>
              </a:spcBef>
              <a:spcAft>
                <a:spcPts val="600"/>
              </a:spcAft>
              <a:buClr>
                <a:srgbClr val="C00000"/>
              </a:buClr>
              <a:buSzPts val="2800"/>
              <a:buNone/>
            </a:pPr>
            <a:r>
              <a:rPr lang="en-IN" sz="1600" dirty="0">
                <a:solidFill>
                  <a:schemeClr val="tx1"/>
                </a:solidFill>
                <a:latin typeface="Times New Roman" panose="02020603050405020304" pitchFamily="18" charset="0"/>
                <a:cs typeface="Times New Roman" panose="02020603050405020304" pitchFamily="18" charset="0"/>
              </a:rPr>
              <a:t>	• Optimize performance and conduct UI/UX testing</a:t>
            </a:r>
            <a:endParaRPr sz="1600" dirty="0">
              <a:solidFill>
                <a:schemeClr val="tx1"/>
              </a:solidFill>
              <a:latin typeface="Times New Roman" panose="02020603050405020304" pitchFamily="18" charset="0"/>
              <a:cs typeface="Times New Roman" panose="02020603050405020304" pitchFamily="18" charset="0"/>
            </a:endParaRPr>
          </a:p>
        </p:txBody>
      </p:sp>
      <p:sp>
        <p:nvSpPr>
          <p:cNvPr id="200" name="Google Shape;200;p18"/>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a:buNone/>
            </a:pPr>
            <a:r>
              <a:rPr lang="en-US" sz="2400" b="1">
                <a:solidFill>
                  <a:srgbClr val="0070C0"/>
                </a:solidFill>
                <a:latin typeface="Cambria"/>
                <a:ea typeface="Cambria"/>
                <a:cs typeface="Cambria"/>
                <a:sym typeface="Cambria"/>
              </a:rPr>
              <a:t>INDIVIDUAL CONTRIBUTIONS TO THE WORK </a:t>
            </a:r>
            <a:endParaRPr sz="2400" b="1">
              <a:solidFill>
                <a:srgbClr val="0070C0"/>
              </a:solidFill>
              <a:latin typeface="Cambria"/>
              <a:ea typeface="Cambria"/>
              <a:cs typeface="Cambria"/>
              <a:sym typeface="Cambria"/>
            </a:endParaRPr>
          </a:p>
        </p:txBody>
      </p:sp>
      <p:sp>
        <p:nvSpPr>
          <p:cNvPr id="201" name="Google Shape;20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15</a:t>
            </a:fld>
            <a:endParaRPr sz="1800" b="1">
              <a:solidFill>
                <a:srgbClr val="385623"/>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7"/>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rgbClr val="C00000"/>
              </a:buClr>
              <a:buSzPts val="2800"/>
              <a:buNone/>
            </a:pPr>
            <a:r>
              <a:rPr lang="en-US" sz="2600" b="1" dirty="0">
                <a:solidFill>
                  <a:srgbClr val="C00000"/>
                </a:solidFill>
                <a:latin typeface="Times New Roman" panose="02020603050405020304" pitchFamily="18" charset="0"/>
                <a:cs typeface="Times New Roman" panose="02020603050405020304" pitchFamily="18" charset="0"/>
              </a:rPr>
              <a:t>Batch Member 3 : (7376221CS294 – RAGUL V R)</a:t>
            </a:r>
            <a:endParaRPr sz="2600" dirty="0">
              <a:latin typeface="Times New Roman" panose="02020603050405020304" pitchFamily="18" charset="0"/>
              <a:cs typeface="Times New Roman" panose="02020603050405020304" pitchFamily="18" charset="0"/>
            </a:endParaRPr>
          </a:p>
          <a:p>
            <a:pPr marL="0" lvl="0" indent="0">
              <a:buSzPts val="2800"/>
              <a:buNone/>
            </a:pPr>
            <a:r>
              <a:rPr lang="en-US" sz="1800" dirty="0">
                <a:latin typeface="Times New Roman" panose="02020603050405020304" pitchFamily="18" charset="0"/>
                <a:cs typeface="Times New Roman" panose="02020603050405020304" pitchFamily="18" charset="0"/>
              </a:rPr>
              <a:t>1. Project Conceptualization </a:t>
            </a:r>
          </a:p>
          <a:p>
            <a:pPr marL="0" lvl="0" indent="0">
              <a:buSzPts val="2800"/>
              <a:buNone/>
            </a:pPr>
            <a:r>
              <a:rPr lang="en-US" sz="1800" dirty="0">
                <a:latin typeface="Times New Roman" panose="02020603050405020304" pitchFamily="18" charset="0"/>
                <a:cs typeface="Times New Roman" panose="02020603050405020304" pitchFamily="18" charset="0"/>
              </a:rPr>
              <a:t>	• Define project scope, objectives, and key features </a:t>
            </a:r>
          </a:p>
          <a:p>
            <a:pPr marL="0" lvl="0" indent="0">
              <a:buSzPts val="2800"/>
              <a:buNone/>
            </a:pPr>
            <a:r>
              <a:rPr lang="en-US" sz="1800" dirty="0">
                <a:latin typeface="Times New Roman" panose="02020603050405020304" pitchFamily="18" charset="0"/>
                <a:cs typeface="Times New Roman" panose="02020603050405020304" pitchFamily="18" charset="0"/>
              </a:rPr>
              <a:t>2. Research about Project</a:t>
            </a:r>
          </a:p>
          <a:p>
            <a:pPr marL="0" lvl="0" indent="0">
              <a:buSzPts val="2800"/>
              <a:buNone/>
            </a:pPr>
            <a:r>
              <a:rPr lang="en-US" sz="1800" dirty="0">
                <a:latin typeface="Times New Roman" panose="02020603050405020304" pitchFamily="18" charset="0"/>
                <a:cs typeface="Times New Roman" panose="02020603050405020304" pitchFamily="18" charset="0"/>
              </a:rPr>
              <a:t>	 • Literature survey on e-waste management and AI-based classification systems </a:t>
            </a:r>
          </a:p>
          <a:p>
            <a:pPr marL="0" lvl="0" indent="0">
              <a:buSzPts val="2800"/>
              <a:buNone/>
            </a:pPr>
            <a:r>
              <a:rPr lang="en-US" sz="1800" dirty="0">
                <a:latin typeface="Times New Roman" panose="02020603050405020304" pitchFamily="18" charset="0"/>
                <a:cs typeface="Times New Roman" panose="02020603050405020304" pitchFamily="18" charset="0"/>
              </a:rPr>
              <a:t>	• Study existing solutions and document findings </a:t>
            </a:r>
          </a:p>
          <a:p>
            <a:pPr marL="0" lvl="0" indent="0">
              <a:buSzPts val="2800"/>
              <a:buNone/>
            </a:pPr>
            <a:r>
              <a:rPr lang="en-US" sz="1800" dirty="0">
                <a:latin typeface="Times New Roman" panose="02020603050405020304" pitchFamily="18" charset="0"/>
                <a:cs typeface="Times New Roman" panose="02020603050405020304" pitchFamily="18" charset="0"/>
              </a:rPr>
              <a:t>3. Analysis of Algorithm </a:t>
            </a:r>
          </a:p>
          <a:p>
            <a:pPr marL="0" lvl="0" indent="0">
              <a:buSzPts val="2800"/>
              <a:buNone/>
            </a:pPr>
            <a:r>
              <a:rPr lang="en-US" sz="1800" dirty="0">
                <a:latin typeface="Times New Roman" panose="02020603050405020304" pitchFamily="18" charset="0"/>
                <a:cs typeface="Times New Roman" panose="02020603050405020304" pitchFamily="18" charset="0"/>
              </a:rPr>
              <a:t>	• Evaluate object detection algorithms (YOLO, FRCNN, SSD) </a:t>
            </a:r>
          </a:p>
          <a:p>
            <a:pPr marL="0" lvl="0" indent="0">
              <a:buSzPts val="2800"/>
              <a:buNone/>
            </a:pPr>
            <a:r>
              <a:rPr lang="en-US" sz="1800" dirty="0">
                <a:latin typeface="Times New Roman" panose="02020603050405020304" pitchFamily="18" charset="0"/>
                <a:cs typeface="Times New Roman" panose="02020603050405020304" pitchFamily="18" charset="0"/>
              </a:rPr>
              <a:t>	• Compare deep learning frameworks and select optimal approach </a:t>
            </a:r>
          </a:p>
          <a:p>
            <a:pPr marL="0" lvl="0" indent="0">
              <a:buSzPts val="2800"/>
              <a:buNone/>
            </a:pPr>
            <a:r>
              <a:rPr lang="en-US" sz="1800" dirty="0">
                <a:latin typeface="Times New Roman" panose="02020603050405020304" pitchFamily="18" charset="0"/>
                <a:cs typeface="Times New Roman" panose="02020603050405020304" pitchFamily="18" charset="0"/>
              </a:rPr>
              <a:t>4.  Deep Learning Model Development </a:t>
            </a:r>
          </a:p>
          <a:p>
            <a:pPr marL="0" lvl="0" indent="0">
              <a:buSzPts val="2800"/>
              <a:buNone/>
            </a:pPr>
            <a:r>
              <a:rPr lang="en-US" sz="1800" dirty="0">
                <a:latin typeface="Times New Roman" panose="02020603050405020304" pitchFamily="18" charset="0"/>
                <a:cs typeface="Times New Roman" panose="02020603050405020304" pitchFamily="18" charset="0"/>
              </a:rPr>
              <a:t>	• Design CNN architecture for e-waste device classification </a:t>
            </a:r>
          </a:p>
          <a:p>
            <a:pPr marL="0" lvl="0" indent="0">
              <a:buSzPts val="2800"/>
              <a:buNone/>
            </a:pPr>
            <a:r>
              <a:rPr lang="en-US" sz="1800" dirty="0">
                <a:latin typeface="Times New Roman" panose="02020603050405020304" pitchFamily="18" charset="0"/>
                <a:cs typeface="Times New Roman" panose="02020603050405020304" pitchFamily="18" charset="0"/>
              </a:rPr>
              <a:t>	• Prepare training dataset (10,000+ images) and label categories </a:t>
            </a:r>
          </a:p>
          <a:p>
            <a:pPr marL="0" lvl="0" indent="0">
              <a:buSzPts val="2800"/>
              <a:buNone/>
            </a:pPr>
            <a:r>
              <a:rPr lang="en-US" sz="1800" dirty="0">
                <a:latin typeface="Times New Roman" panose="02020603050405020304" pitchFamily="18" charset="0"/>
                <a:cs typeface="Times New Roman" panose="02020603050405020304" pitchFamily="18" charset="0"/>
              </a:rPr>
              <a:t>5. Model Training &amp; Optimization </a:t>
            </a:r>
          </a:p>
          <a:p>
            <a:pPr marL="0" lvl="0" indent="0">
              <a:buSzPts val="2800"/>
              <a:buNone/>
            </a:pPr>
            <a:r>
              <a:rPr lang="en-US" sz="1800" dirty="0">
                <a:latin typeface="Times New Roman" panose="02020603050405020304" pitchFamily="18" charset="0"/>
                <a:cs typeface="Times New Roman" panose="02020603050405020304" pitchFamily="18" charset="0"/>
              </a:rPr>
              <a:t>	• Train FRCNN model for device recognition </a:t>
            </a:r>
          </a:p>
          <a:p>
            <a:pPr marL="0" lvl="0" indent="0">
              <a:buSzPts val="2800"/>
              <a:buNone/>
            </a:pPr>
            <a:r>
              <a:rPr lang="en-US" sz="1800" dirty="0">
                <a:latin typeface="Times New Roman" panose="02020603050405020304" pitchFamily="18" charset="0"/>
                <a:cs typeface="Times New Roman" panose="02020603050405020304" pitchFamily="18" charset="0"/>
              </a:rPr>
              <a:t>	• Develop NLP model for chatbot functionality </a:t>
            </a:r>
          </a:p>
          <a:p>
            <a:pPr marL="0" lvl="0" indent="0">
              <a:buSzPts val="2800"/>
              <a:buNone/>
            </a:pPr>
            <a:r>
              <a:rPr lang="en-US" sz="1800" dirty="0">
                <a:latin typeface="Times New Roman" panose="02020603050405020304" pitchFamily="18" charset="0"/>
                <a:cs typeface="Times New Roman" panose="02020603050405020304" pitchFamily="18" charset="0"/>
              </a:rPr>
              <a:t>6. AI Model Integration </a:t>
            </a:r>
          </a:p>
          <a:p>
            <a:pPr marL="0" lvl="0" indent="0">
              <a:buSzPts val="2800"/>
              <a:buNone/>
            </a:pPr>
            <a:r>
              <a:rPr lang="en-US" sz="1800" dirty="0">
                <a:latin typeface="Times New Roman" panose="02020603050405020304" pitchFamily="18" charset="0"/>
                <a:cs typeface="Times New Roman" panose="02020603050405020304" pitchFamily="18" charset="0"/>
              </a:rPr>
              <a:t>	• Integrate trained models with backend API </a:t>
            </a:r>
          </a:p>
          <a:p>
            <a:pPr marL="0" lvl="0" indent="0">
              <a:buSzPts val="2800"/>
              <a:buNone/>
            </a:pPr>
            <a:r>
              <a:rPr lang="en-US" sz="1800" dirty="0">
                <a:latin typeface="Times New Roman" panose="02020603050405020304" pitchFamily="18" charset="0"/>
                <a:cs typeface="Times New Roman" panose="02020603050405020304" pitchFamily="18" charset="0"/>
              </a:rPr>
              <a:t>	• Create REST endpoints for real-time predictions </a:t>
            </a:r>
          </a:p>
        </p:txBody>
      </p:sp>
      <p:sp>
        <p:nvSpPr>
          <p:cNvPr id="193" name="Google Shape;193;p17"/>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a:buNone/>
            </a:pPr>
            <a:r>
              <a:rPr lang="en-US" sz="2400" b="1">
                <a:solidFill>
                  <a:srgbClr val="0070C0"/>
                </a:solidFill>
                <a:latin typeface="Cambria"/>
                <a:ea typeface="Cambria"/>
                <a:cs typeface="Cambria"/>
                <a:sym typeface="Cambria"/>
              </a:rPr>
              <a:t>INDIVIDUAL CONTRIBUTIONS TO THE WORK </a:t>
            </a:r>
            <a:endParaRPr sz="2400" b="1">
              <a:solidFill>
                <a:srgbClr val="0070C0"/>
              </a:solidFill>
              <a:latin typeface="Cambria"/>
              <a:ea typeface="Cambria"/>
              <a:cs typeface="Cambria"/>
              <a:sym typeface="Cambria"/>
            </a:endParaRPr>
          </a:p>
        </p:txBody>
      </p:sp>
      <p:sp>
        <p:nvSpPr>
          <p:cNvPr id="194" name="Google Shape;19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16</a:t>
            </a:fld>
            <a:endParaRPr sz="1800" b="1">
              <a:solidFill>
                <a:srgbClr val="385623"/>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0"/>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endParaRPr lang="en-IN" sz="2400" b="1" dirty="0"/>
          </a:p>
          <a:p>
            <a:r>
              <a:rPr lang="en-IN" sz="2400" b="1" dirty="0"/>
              <a:t>Blockchain Integration for Transparency</a:t>
            </a:r>
            <a:r>
              <a:rPr lang="en-IN" sz="2400" dirty="0"/>
              <a:t> - Immutable ledger for e-waste disposal tracking and NFT-based certificates</a:t>
            </a:r>
          </a:p>
          <a:p>
            <a:r>
              <a:rPr lang="en-IN" sz="2400" b="1" dirty="0"/>
              <a:t>IoT-Enabled Smart Collection Bins</a:t>
            </a:r>
            <a:r>
              <a:rPr lang="en-IN" sz="2400" dirty="0"/>
              <a:t> - Real-time fill-level monitoring and automated pickup scheduling</a:t>
            </a:r>
          </a:p>
          <a:p>
            <a:r>
              <a:rPr lang="en-IN" sz="2400" b="1" dirty="0"/>
              <a:t>AR-Based Device Disassembly Guide</a:t>
            </a:r>
            <a:r>
              <a:rPr lang="en-IN" sz="2400" dirty="0"/>
              <a:t> - Augmented Reality instructions for safe device disassembly and component removal</a:t>
            </a:r>
          </a:p>
          <a:p>
            <a:r>
              <a:rPr lang="en-IN" sz="2400" b="1" dirty="0"/>
              <a:t>Marketplace for Refurbished Electronics</a:t>
            </a:r>
            <a:r>
              <a:rPr lang="en-IN" sz="2400" dirty="0"/>
              <a:t> - Integrated platform for selling refurbished devices to promote circular economy</a:t>
            </a:r>
          </a:p>
          <a:p>
            <a:r>
              <a:rPr lang="en-IN" sz="2400" b="1" dirty="0"/>
              <a:t>AI-Powered Predictive Analytics</a:t>
            </a:r>
            <a:r>
              <a:rPr lang="en-IN" sz="2400" dirty="0"/>
              <a:t> - Machine learning models to forecast e-waste generation patterns and optimize resource allocation</a:t>
            </a:r>
          </a:p>
          <a:p>
            <a:pPr marL="0" lvl="0" indent="0">
              <a:lnSpc>
                <a:spcPct val="100000"/>
              </a:lnSpc>
              <a:spcBef>
                <a:spcPts val="0"/>
              </a:spcBef>
              <a:buSzPts val="2800"/>
              <a:buNone/>
            </a:pPr>
            <a:endParaRPr dirty="0"/>
          </a:p>
          <a:p>
            <a:pPr marL="0" lvl="0" indent="0" algn="l" rtl="0">
              <a:lnSpc>
                <a:spcPct val="90000"/>
              </a:lnSpc>
              <a:spcBef>
                <a:spcPts val="1000"/>
              </a:spcBef>
              <a:spcAft>
                <a:spcPts val="0"/>
              </a:spcAft>
              <a:buClr>
                <a:schemeClr val="dk1"/>
              </a:buClr>
              <a:buSzPts val="2800"/>
              <a:buNone/>
            </a:pPr>
            <a:endParaRPr dirty="0"/>
          </a:p>
        </p:txBody>
      </p:sp>
      <p:sp>
        <p:nvSpPr>
          <p:cNvPr id="221" name="Google Shape;221;p20"/>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a:buNone/>
            </a:pPr>
            <a:r>
              <a:rPr lang="en-US" sz="2400" b="1" dirty="0">
                <a:solidFill>
                  <a:srgbClr val="0070C0"/>
                </a:solidFill>
                <a:latin typeface="Cambria"/>
                <a:ea typeface="Cambria"/>
                <a:cs typeface="Cambria"/>
                <a:sym typeface="Cambria"/>
              </a:rPr>
              <a:t>FUTURE SCOPES</a:t>
            </a:r>
            <a:endParaRPr sz="2400" b="1" dirty="0">
              <a:solidFill>
                <a:srgbClr val="0070C0"/>
              </a:solidFill>
              <a:latin typeface="Cambria"/>
              <a:ea typeface="Cambria"/>
              <a:cs typeface="Cambria"/>
              <a:sym typeface="Cambria"/>
            </a:endParaRPr>
          </a:p>
        </p:txBody>
      </p:sp>
      <p:sp>
        <p:nvSpPr>
          <p:cNvPr id="222" name="Google Shape;22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17</a:t>
            </a:fld>
            <a:endParaRPr sz="1800" b="1">
              <a:solidFill>
                <a:srgbClr val="385623"/>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5"/>
          <p:cNvSpPr txBox="1">
            <a:spLocks noGrp="1"/>
          </p:cNvSpPr>
          <p:nvPr>
            <p:ph type="body" idx="1"/>
          </p:nvPr>
        </p:nvSpPr>
        <p:spPr>
          <a:xfrm>
            <a:off x="838200" y="911514"/>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C00000"/>
              </a:buClr>
              <a:buSzPts val="2400"/>
              <a:buNone/>
            </a:pPr>
            <a:r>
              <a:rPr lang="en-US" sz="1800" b="1" dirty="0">
                <a:solidFill>
                  <a:srgbClr val="C00000"/>
                </a:solidFill>
                <a:latin typeface="Times New Roman" panose="02020603050405020304" pitchFamily="18" charset="0"/>
                <a:cs typeface="Times New Roman" panose="02020603050405020304" pitchFamily="18" charset="0"/>
              </a:rPr>
              <a:t>Journal </a:t>
            </a:r>
            <a:endParaRPr sz="1800" b="1" dirty="0">
              <a:latin typeface="Times New Roman" panose="02020603050405020304" pitchFamily="18" charset="0"/>
              <a:cs typeface="Times New Roman" panose="02020603050405020304" pitchFamily="18" charset="0"/>
            </a:endParaRPr>
          </a:p>
          <a:p>
            <a:r>
              <a:rPr lang="en-US" sz="1300" dirty="0"/>
              <a:t>[Kumar, Ashok, et al. </a:t>
            </a:r>
            <a:r>
              <a:rPr lang="en-US" sz="1300" b="1" dirty="0"/>
              <a:t>"E-waste management: A review of recycling process, environmental and occupational health hazards, and potential solutions."</a:t>
            </a:r>
            <a:r>
              <a:rPr lang="en-US" sz="1300" dirty="0"/>
              <a:t> </a:t>
            </a:r>
            <a:r>
              <a:rPr lang="en-US" sz="1300" i="1" dirty="0"/>
              <a:t>Environmental Nanotechnology, Monitoring &amp; Management</a:t>
            </a:r>
            <a:r>
              <a:rPr lang="en-US" sz="1300" dirty="0"/>
              <a:t> 15 (2021): 100409.</a:t>
            </a:r>
          </a:p>
          <a:p>
            <a:r>
              <a:rPr lang="en-US" sz="1300" dirty="0"/>
              <a:t>Forti, Vanessa, et al. </a:t>
            </a:r>
            <a:r>
              <a:rPr lang="en-US" sz="1300" b="1" dirty="0"/>
              <a:t>"The Global E-waste Monitor 2020: Quantities, flows, and the circular economy potential."</a:t>
            </a:r>
            <a:r>
              <a:rPr lang="en-US" sz="1300" dirty="0"/>
              <a:t> </a:t>
            </a:r>
            <a:r>
              <a:rPr lang="en-US" sz="1300" i="1" dirty="0"/>
              <a:t>United Nations University/United Nations Institute for Training and Research, International Telecommunication Union, and International Solid Waste Association</a:t>
            </a:r>
            <a:r>
              <a:rPr lang="en-US" sz="1300" dirty="0"/>
              <a:t> (2020).</a:t>
            </a:r>
          </a:p>
          <a:p>
            <a:pPr marL="114300" indent="0">
              <a:buNone/>
            </a:pPr>
            <a:r>
              <a:rPr lang="en-IN" sz="1800" b="1" dirty="0">
                <a:solidFill>
                  <a:srgbClr val="C00000"/>
                </a:solidFill>
                <a:latin typeface="Times New Roman" panose="02020603050405020304" pitchFamily="18" charset="0"/>
                <a:cs typeface="Times New Roman" panose="02020603050405020304" pitchFamily="18" charset="0"/>
              </a:rPr>
              <a:t>Conference Proceedings</a:t>
            </a:r>
          </a:p>
          <a:p>
            <a:r>
              <a:rPr lang="en-IN" sz="1300" dirty="0"/>
              <a:t>Mittal, Gargi, et al. </a:t>
            </a:r>
            <a:r>
              <a:rPr lang="en-IN" sz="1300" b="1" dirty="0"/>
              <a:t>"</a:t>
            </a:r>
            <a:r>
              <a:rPr lang="en-IN" sz="1300" b="1" dirty="0" err="1"/>
              <a:t>SpotGarbage</a:t>
            </a:r>
            <a:r>
              <a:rPr lang="en-IN" sz="1300" b="1" dirty="0"/>
              <a:t>: smartphone app to detect garbage using deep learning."</a:t>
            </a:r>
            <a:r>
              <a:rPr lang="en-IN" sz="1300" dirty="0"/>
              <a:t> </a:t>
            </a:r>
            <a:r>
              <a:rPr lang="en-IN" sz="1300" i="1" dirty="0"/>
              <a:t>Proceedings of the ACM India Joint International Conference on Data Science and Management of Data</a:t>
            </a:r>
            <a:r>
              <a:rPr lang="en-IN" sz="1300" dirty="0"/>
              <a:t> (2016): 228-234.</a:t>
            </a:r>
          </a:p>
          <a:p>
            <a:r>
              <a:rPr lang="en-IN" sz="1300" dirty="0"/>
              <a:t>Thung, Gary, and Mindy Yang. </a:t>
            </a:r>
            <a:r>
              <a:rPr lang="en-IN" sz="1300" b="1" dirty="0"/>
              <a:t>"Classification of trash for recyclability status."</a:t>
            </a:r>
            <a:r>
              <a:rPr lang="en-IN" sz="1300" dirty="0"/>
              <a:t> </a:t>
            </a:r>
            <a:r>
              <a:rPr lang="en-IN" sz="1300" i="1" dirty="0"/>
              <a:t>CS229 Project Report, Stanford University</a:t>
            </a:r>
            <a:r>
              <a:rPr lang="en-IN" sz="1300" dirty="0"/>
              <a:t> (2016).</a:t>
            </a:r>
          </a:p>
          <a:p>
            <a:pPr marL="114300" indent="0">
              <a:buNone/>
            </a:pPr>
            <a:r>
              <a:rPr lang="en-US" sz="2000" b="1" dirty="0">
                <a:solidFill>
                  <a:srgbClr val="C00000"/>
                </a:solidFill>
                <a:latin typeface="Times New Roman" panose="02020603050405020304" pitchFamily="18" charset="0"/>
                <a:cs typeface="Times New Roman" panose="02020603050405020304" pitchFamily="18" charset="0"/>
              </a:rPr>
              <a:t>Online Resources</a:t>
            </a:r>
          </a:p>
          <a:p>
            <a:r>
              <a:rPr lang="en-US" sz="1300" dirty="0"/>
              <a:t>World Health Organization. </a:t>
            </a:r>
            <a:r>
              <a:rPr lang="en-US" sz="1300" b="1" dirty="0"/>
              <a:t>"Electronic waste (e-waste)."</a:t>
            </a:r>
            <a:r>
              <a:rPr lang="en-US" sz="1300" dirty="0"/>
              <a:t> </a:t>
            </a:r>
            <a:r>
              <a:rPr lang="en-US" sz="1300" i="1" dirty="0"/>
              <a:t>WHO Fact Sheet</a:t>
            </a:r>
            <a:r>
              <a:rPr lang="en-US" sz="1300" dirty="0"/>
              <a:t> (2021). Available: https://www.who.int/news-room/fact-sheets/detail/electronic-waste-(e-waste)</a:t>
            </a:r>
          </a:p>
          <a:p>
            <a:r>
              <a:rPr lang="en-US" sz="1300" dirty="0"/>
              <a:t>United Nations Environment </a:t>
            </a:r>
            <a:r>
              <a:rPr lang="en-US" sz="1300" dirty="0" err="1"/>
              <a:t>Programme</a:t>
            </a:r>
            <a:r>
              <a:rPr lang="en-US" sz="1300" dirty="0"/>
              <a:t>. </a:t>
            </a:r>
            <a:r>
              <a:rPr lang="en-US" sz="1300" b="1" dirty="0"/>
              <a:t>"Waste Management."</a:t>
            </a:r>
            <a:r>
              <a:rPr lang="en-US" sz="1300" dirty="0"/>
              <a:t> </a:t>
            </a:r>
            <a:r>
              <a:rPr lang="en-US" sz="1300" i="1" dirty="0"/>
              <a:t>UNEP Resources</a:t>
            </a:r>
            <a:r>
              <a:rPr lang="en-US" sz="1300" dirty="0"/>
              <a:t> (2023). Available: </a:t>
            </a:r>
            <a:r>
              <a:rPr lang="en-US" sz="1300" dirty="0">
                <a:hlinkClick r:id="rId3"/>
              </a:rPr>
              <a:t>https://www.unep.org/explore-topics/resource-efficiency/what-we-do/cities/waste-management</a:t>
            </a:r>
            <a:endParaRPr lang="en-US" sz="1300" dirty="0"/>
          </a:p>
          <a:p>
            <a:pPr marL="114300" indent="0">
              <a:buNone/>
            </a:pPr>
            <a:r>
              <a:rPr lang="en-IN" sz="2000" b="1" dirty="0">
                <a:solidFill>
                  <a:srgbClr val="C00000"/>
                </a:solidFill>
                <a:latin typeface="Times New Roman" panose="02020603050405020304" pitchFamily="18" charset="0"/>
                <a:cs typeface="Times New Roman" panose="02020603050405020304" pitchFamily="18" charset="0"/>
              </a:rPr>
              <a:t>Books</a:t>
            </a:r>
          </a:p>
          <a:p>
            <a:r>
              <a:rPr lang="en-IN" sz="1300" dirty="0">
                <a:latin typeface="Times New Roman" panose="02020603050405020304" pitchFamily="18" charset="0"/>
                <a:cs typeface="Times New Roman" panose="02020603050405020304" pitchFamily="18" charset="0"/>
              </a:rPr>
              <a:t>Widmer, Rolf, et al. </a:t>
            </a:r>
            <a:r>
              <a:rPr lang="en-IN" sz="1300" b="1" dirty="0">
                <a:latin typeface="Times New Roman" panose="02020603050405020304" pitchFamily="18" charset="0"/>
                <a:cs typeface="Times New Roman" panose="02020603050405020304" pitchFamily="18" charset="0"/>
              </a:rPr>
              <a:t>"Global perspectives on e-waste."</a:t>
            </a:r>
            <a:r>
              <a:rPr lang="en-IN" sz="1300" dirty="0">
                <a:latin typeface="Times New Roman" panose="02020603050405020304" pitchFamily="18" charset="0"/>
                <a:cs typeface="Times New Roman" panose="02020603050405020304" pitchFamily="18" charset="0"/>
              </a:rPr>
              <a:t> </a:t>
            </a:r>
            <a:r>
              <a:rPr lang="en-IN" sz="1300" i="1" dirty="0">
                <a:latin typeface="Times New Roman" panose="02020603050405020304" pitchFamily="18" charset="0"/>
                <a:cs typeface="Times New Roman" panose="02020603050405020304" pitchFamily="18" charset="0"/>
              </a:rPr>
              <a:t>Environmental Impact Assessment Review</a:t>
            </a:r>
            <a:r>
              <a:rPr lang="en-IN" sz="1300" dirty="0">
                <a:latin typeface="Times New Roman" panose="02020603050405020304" pitchFamily="18" charset="0"/>
                <a:cs typeface="Times New Roman" panose="02020603050405020304" pitchFamily="18" charset="0"/>
              </a:rPr>
              <a:t> 25.5 (2005): 436-458.</a:t>
            </a:r>
          </a:p>
          <a:p>
            <a:r>
              <a:rPr lang="en-IN" sz="1300" dirty="0" err="1">
                <a:latin typeface="Times New Roman" panose="02020603050405020304" pitchFamily="18" charset="0"/>
                <a:cs typeface="Times New Roman" panose="02020603050405020304" pitchFamily="18" charset="0"/>
              </a:rPr>
              <a:t>Sthiannopkao</a:t>
            </a:r>
            <a:r>
              <a:rPr lang="en-IN" sz="1300" dirty="0">
                <a:latin typeface="Times New Roman" panose="02020603050405020304" pitchFamily="18" charset="0"/>
                <a:cs typeface="Times New Roman" panose="02020603050405020304" pitchFamily="18" charset="0"/>
              </a:rPr>
              <a:t>, </a:t>
            </a:r>
            <a:r>
              <a:rPr lang="en-IN" sz="1300" dirty="0" err="1">
                <a:latin typeface="Times New Roman" panose="02020603050405020304" pitchFamily="18" charset="0"/>
                <a:cs typeface="Times New Roman" panose="02020603050405020304" pitchFamily="18" charset="0"/>
              </a:rPr>
              <a:t>Suthipong</a:t>
            </a:r>
            <a:r>
              <a:rPr lang="en-IN" sz="1300" dirty="0">
                <a:latin typeface="Times New Roman" panose="02020603050405020304" pitchFamily="18" charset="0"/>
                <a:cs typeface="Times New Roman" panose="02020603050405020304" pitchFamily="18" charset="0"/>
              </a:rPr>
              <a:t>, and Ming Hung Wong. </a:t>
            </a:r>
            <a:r>
              <a:rPr lang="en-IN" sz="1300" b="1" dirty="0">
                <a:latin typeface="Times New Roman" panose="02020603050405020304" pitchFamily="18" charset="0"/>
                <a:cs typeface="Times New Roman" panose="02020603050405020304" pitchFamily="18" charset="0"/>
              </a:rPr>
              <a:t>"Handling e-waste in developed and developing countries: Initiatives, practices, and consequences."</a:t>
            </a:r>
            <a:r>
              <a:rPr lang="en-IN" sz="1300" dirty="0">
                <a:latin typeface="Times New Roman" panose="02020603050405020304" pitchFamily="18" charset="0"/>
                <a:cs typeface="Times New Roman" panose="02020603050405020304" pitchFamily="18" charset="0"/>
              </a:rPr>
              <a:t> </a:t>
            </a:r>
            <a:r>
              <a:rPr lang="en-IN" sz="1300" i="1" dirty="0">
                <a:latin typeface="Times New Roman" panose="02020603050405020304" pitchFamily="18" charset="0"/>
                <a:cs typeface="Times New Roman" panose="02020603050405020304" pitchFamily="18" charset="0"/>
              </a:rPr>
              <a:t>Science of the Total Environment</a:t>
            </a:r>
            <a:r>
              <a:rPr lang="en-IN" sz="1300" dirty="0">
                <a:latin typeface="Times New Roman" panose="02020603050405020304" pitchFamily="18" charset="0"/>
                <a:cs typeface="Times New Roman" panose="02020603050405020304" pitchFamily="18" charset="0"/>
              </a:rPr>
              <a:t> 463 (2013): 1147-1153.</a:t>
            </a:r>
          </a:p>
          <a:p>
            <a:pPr marL="114300" indent="0">
              <a:buNone/>
            </a:pPr>
            <a:endParaRPr lang="en-US" sz="1300" dirty="0"/>
          </a:p>
        </p:txBody>
      </p:sp>
      <p:sp>
        <p:nvSpPr>
          <p:cNvPr id="228" name="Google Shape;228;p25"/>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a:buNone/>
            </a:pPr>
            <a:r>
              <a:rPr lang="en-US" sz="2400" b="1">
                <a:solidFill>
                  <a:srgbClr val="0070C0"/>
                </a:solidFill>
                <a:latin typeface="Cambria"/>
                <a:ea typeface="Cambria"/>
                <a:cs typeface="Cambria"/>
                <a:sym typeface="Cambria"/>
              </a:rPr>
              <a:t>REFERENCES</a:t>
            </a:r>
            <a:br>
              <a:rPr lang="en-US" sz="2400" b="1">
                <a:solidFill>
                  <a:srgbClr val="0070C0"/>
                </a:solidFill>
                <a:latin typeface="Cambria"/>
                <a:ea typeface="Cambria"/>
                <a:cs typeface="Cambria"/>
                <a:sym typeface="Cambria"/>
              </a:rPr>
            </a:br>
            <a:r>
              <a:rPr lang="en-US" sz="1800" b="1">
                <a:solidFill>
                  <a:srgbClr val="00B050"/>
                </a:solidFill>
                <a:latin typeface="Cambria"/>
                <a:ea typeface="Cambria"/>
                <a:cs typeface="Cambria"/>
                <a:sym typeface="Cambria"/>
              </a:rPr>
              <a:t>( Journal Papers/ Books / Website in IEEE Format )</a:t>
            </a:r>
            <a:endParaRPr sz="1800" b="1">
              <a:solidFill>
                <a:srgbClr val="00B050"/>
              </a:solidFill>
              <a:latin typeface="Cambria"/>
              <a:ea typeface="Cambria"/>
              <a:cs typeface="Cambria"/>
              <a:sym typeface="Cambria"/>
            </a:endParaRPr>
          </a:p>
        </p:txBody>
      </p:sp>
      <p:sp>
        <p:nvSpPr>
          <p:cNvPr id="229" name="Google Shape;2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18</a:t>
            </a:fld>
            <a:endParaRPr sz="1800" b="1">
              <a:solidFill>
                <a:srgbClr val="385623"/>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1820</TotalTime>
  <Words>3158</Words>
  <Application>Microsoft Office PowerPoint</Application>
  <PresentationFormat>Widescreen</PresentationFormat>
  <Paragraphs>219</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Times New Roman</vt:lpstr>
      <vt:lpstr>Office Theme</vt:lpstr>
      <vt:lpstr>Academic Year 2025 - 26  S8 MINI PROJECT IV Final Review</vt:lpstr>
      <vt:lpstr>ABSTRACT OF THE PROJECT </vt:lpstr>
      <vt:lpstr>AIM OF THE PROJECT </vt:lpstr>
      <vt:lpstr>OBJECTIVES OF THE PROJECT </vt:lpstr>
      <vt:lpstr>PROBLEM STATEMENT</vt:lpstr>
      <vt:lpstr>LITERATURE SURVEY </vt:lpstr>
      <vt:lpstr>LITERATURE SURVEY </vt:lpstr>
      <vt:lpstr>SCOPE OF THE PROJECT</vt:lpstr>
      <vt:lpstr>NEED FOR THE CURRENT STUDY </vt:lpstr>
      <vt:lpstr>PROPOSED METHODOLOGY ( Flow Chart) </vt:lpstr>
      <vt:lpstr>PROPOSED METHODOLOGY ( Overall Gantt Chart) </vt:lpstr>
      <vt:lpstr>CHOICE  OF  COMPONENTS  /  MODULES  / METHODS/TECHNIQUES  EQUIPMENT  USED FOR  PROJECT DEVELOPMENT </vt:lpstr>
      <vt:lpstr>CHOICE  OF  COMPONENTS  /  MODULES  / METHODS/TECHNIQUES  EQUIPMENT  USED FOR  PROJECT DEVELOPMENT </vt:lpstr>
      <vt:lpstr>INDIVIDUAL CONTRIBUTIONS TO THE WORK </vt:lpstr>
      <vt:lpstr>INDIVIDUAL CONTRIBUTIONS TO THE WORK </vt:lpstr>
      <vt:lpstr>INDIVIDUAL CONTRIBUTIONS TO THE WORK </vt:lpstr>
      <vt:lpstr>FUTURE SCOPES</vt:lpstr>
      <vt:lpstr>REFERENCES ( Journal Papers/ Books / Website in IEEE Format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TRC</dc:creator>
  <cp:lastModifiedBy>MADHU METHA</cp:lastModifiedBy>
  <cp:revision>8</cp:revision>
  <dcterms:created xsi:type="dcterms:W3CDTF">2023-07-14T12:21:17Z</dcterms:created>
  <dcterms:modified xsi:type="dcterms:W3CDTF">2026-04-05T14:43:04Z</dcterms:modified>
</cp:coreProperties>
</file>